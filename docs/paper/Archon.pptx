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sldSz cy="5143500" cx="9144000"/>
  <p:notesSz cx="6858000" cy="9144000"/>
  <p:embeddedFontLst>
    <p:embeddedFont>
      <p:font typeface="Roboto Mono"/>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Mono-bold.fntdata"/><Relationship Id="rId63" Type="http://schemas.openxmlformats.org/officeDocument/2006/relationships/font" Target="fonts/RobotoMono-regular.fntdata"/><Relationship Id="rId22" Type="http://schemas.openxmlformats.org/officeDocument/2006/relationships/slide" Target="slides/slide17.xml"/><Relationship Id="rId66" Type="http://schemas.openxmlformats.org/officeDocument/2006/relationships/font" Target="fonts/RobotoMono-boldItalic.fntdata"/><Relationship Id="rId21" Type="http://schemas.openxmlformats.org/officeDocument/2006/relationships/slide" Target="slides/slide16.xml"/><Relationship Id="rId65" Type="http://schemas.openxmlformats.org/officeDocument/2006/relationships/font" Target="fonts/RobotoMono-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430e34dc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430e34dc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t>
            </a:r>
            <a:r>
              <a:rPr lang="en"/>
              <a:t> how software development works today is you have A Git repository that contains the complete history of a software system—its source code, commits, branches, and pull requests.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430e34dc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430e34dc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Whenever a developer proposes a change, they open a pull request, which becomes the primary mechanism for review before the change is merged.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430e34dc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430e34dc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reviewers inspect textual diffs. They look at which lines were added, removed, or modified. Or thats not completely true if u launch a clade process to look at the pr but the idea is if u wanted to </a:t>
            </a:r>
            <a:r>
              <a:rPr lang="en"/>
              <a:t>understand</a:t>
            </a:r>
            <a:r>
              <a:rPr lang="en"/>
              <a:t> what happened you would have to inspect the file/code changes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430e34dc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430e34dc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that's usually not what reviewers actually care about. They're trying to understand whether the architecture changed. Did new dependencies appear? Did we introduce coupling between previously independent components?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430e34dc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430e34dc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 is that our architectural understanding usually lives in diagrams or documentation created manually. As the system evolves, those diagrams quickly become outdated and drift away from the implementation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430e34dc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430e34dc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ARCHON closes this gap by deriving an architectural graph directly from the codebase and computing an architectural delta for every pull request. </a:t>
            </a:r>
            <a:endParaRPr/>
          </a:p>
          <a:p>
            <a:pPr indent="0" lvl="0" marL="0" rtl="0" algn="l">
              <a:spcBef>
                <a:spcPts val="0"/>
              </a:spcBef>
              <a:spcAft>
                <a:spcPts val="0"/>
              </a:spcAft>
              <a:buNone/>
            </a:pPr>
            <a:r>
              <a:rPr lang="en"/>
              <a:t>Instead of reviewing only changed lines, reviewers can understand what changed in the system's design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324a53f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324a53f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430e34d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430e34d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"Current code review is largely code-centric. We ask questions like: what lines changed, what files changed, and does the code compile?"</a:t>
            </a:r>
            <a:endParaRPr/>
          </a:p>
          <a:p>
            <a:pPr indent="0" lvl="0" marL="381000" marR="381000" rtl="0" algn="l">
              <a:lnSpc>
                <a:spcPct val="115000"/>
              </a:lnSpc>
              <a:spcBef>
                <a:spcPts val="1200"/>
              </a:spcBef>
              <a:spcAft>
                <a:spcPts val="0"/>
              </a:spcAft>
              <a:buClr>
                <a:schemeClr val="dk1"/>
              </a:buClr>
              <a:buSzPts val="1100"/>
              <a:buFont typeface="Arial"/>
              <a:buNone/>
            </a:pPr>
            <a:r>
              <a:rPr lang="en"/>
              <a:t>"ARCHON shifts the focus to architecture. It asks: did dependencies change? Were there any architectural violations? And ultimately, is this change safe enough to automate or should it require human review?"</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324a53f7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324a53f7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Conceptually, the workflow is simple. Starting from the codebase, ARCHON constructs an architectural graph. For every pull request, it computes the difference between the old and new graphs—what we call the architectural delta. That delta then becomes the primary artifact used for review</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324a53f7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324a53f7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The first problem is that textual size doesn't necessarily correspond to architectural impact."</a:t>
            </a:r>
            <a:endParaRPr/>
          </a:p>
          <a:p>
            <a:pPr indent="0" lvl="0" marL="381000" marR="381000" rtl="0" algn="l">
              <a:lnSpc>
                <a:spcPct val="115000"/>
              </a:lnSpc>
              <a:spcBef>
                <a:spcPts val="1200"/>
              </a:spcBef>
              <a:spcAft>
                <a:spcPts val="0"/>
              </a:spcAft>
              <a:buClr>
                <a:schemeClr val="dk1"/>
              </a:buClr>
              <a:buSzPts val="1100"/>
              <a:buFont typeface="Arial"/>
              <a:buNone/>
            </a:pPr>
            <a:r>
              <a:rPr lang="en"/>
              <a:t>"Imagine a developer reorganizes the repository. They rename packages, move files into different folders, split modules, and clean up the project structure."</a:t>
            </a:r>
            <a:endParaRPr/>
          </a:p>
          <a:p>
            <a:pPr indent="0" lvl="0" marL="381000" marR="381000" rtl="0" algn="l">
              <a:lnSpc>
                <a:spcPct val="115000"/>
              </a:lnSpc>
              <a:spcBef>
                <a:spcPts val="1200"/>
              </a:spcBef>
              <a:spcAft>
                <a:spcPts val="0"/>
              </a:spcAft>
              <a:buClr>
                <a:schemeClr val="dk1"/>
              </a:buClr>
              <a:buSzPts val="1100"/>
              <a:buFont typeface="Arial"/>
              <a:buNone/>
            </a:pPr>
            <a:r>
              <a:rPr lang="en"/>
              <a:t>"GitHub might report that 100 files changed, making the pull request appear enormous."</a:t>
            </a:r>
            <a:endParaRPr/>
          </a:p>
          <a:p>
            <a:pPr indent="0" lvl="0" marL="381000" marR="381000" rtl="0" algn="l">
              <a:lnSpc>
                <a:spcPct val="115000"/>
              </a:lnSpc>
              <a:spcBef>
                <a:spcPts val="1200"/>
              </a:spcBef>
              <a:spcAft>
                <a:spcPts val="0"/>
              </a:spcAft>
              <a:buClr>
                <a:schemeClr val="dk1"/>
              </a:buClr>
              <a:buSzPts val="1100"/>
              <a:buFont typeface="Arial"/>
              <a:buNone/>
            </a:pPr>
            <a:r>
              <a:rPr lang="en"/>
              <a:t>"Architecturally, though, nothing changed. The same packages communicate in the same way, the interfaces remain the same, and the dependencies are unchanged."</a:t>
            </a:r>
            <a:endParaRPr/>
          </a:p>
          <a:p>
            <a:pPr indent="0" lvl="0" marL="381000" marR="381000" rtl="0" algn="l">
              <a:lnSpc>
                <a:spcPct val="115000"/>
              </a:lnSpc>
              <a:spcBef>
                <a:spcPts val="1200"/>
              </a:spcBef>
              <a:spcAft>
                <a:spcPts val="0"/>
              </a:spcAft>
              <a:buClr>
                <a:schemeClr val="dk1"/>
              </a:buClr>
              <a:buSzPts val="1100"/>
              <a:buFont typeface="Arial"/>
              <a:buNone/>
            </a:pPr>
            <a:r>
              <a:rPr lang="en"/>
              <a:t>"So what looks like a massive pull request is actually just an internal refactor with essentially zero architectural impact</a:t>
            </a: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324a53f7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324a53f7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324a53f7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324a53f7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opposite can also happen."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"Suppose someone adds a single line like </a:t>
            </a:r>
            <a:r>
              <a:rPr lang="en">
                <a:solidFill>
                  <a:srgbClr val="188038"/>
                </a:solidFill>
                <a:latin typeface="Roboto Mono"/>
                <a:ea typeface="Roboto Mono"/>
                <a:cs typeface="Roboto Mono"/>
                <a:sym typeface="Roboto Mono"/>
              </a:rPr>
              <a:t>import grpc</a:t>
            </a:r>
            <a:r>
              <a:rPr lang="en">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"Textually, that's almost insignificant."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"But architecturally, that one line might introduce a completely new dependency between modules, a new communication protocol, or an external runtime dependency."</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"A tiny textual change can fundamentally alter the system architecture."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324a53f7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324a53f7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324a53f7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324a53f7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"This becomes much more important with AI coding agents."</a:t>
            </a:r>
            <a:endParaRPr/>
          </a:p>
          <a:p>
            <a:pPr indent="0" lvl="0" marL="381000" marR="381000" rtl="0" algn="l">
              <a:lnSpc>
                <a:spcPct val="115000"/>
              </a:lnSpc>
              <a:spcBef>
                <a:spcPts val="1200"/>
              </a:spcBef>
              <a:spcAft>
                <a:spcPts val="0"/>
              </a:spcAft>
              <a:buClr>
                <a:schemeClr val="dk1"/>
              </a:buClr>
              <a:buSzPts val="1100"/>
              <a:buFont typeface="Arial"/>
              <a:buNone/>
            </a:pPr>
            <a:r>
              <a:rPr lang="en"/>
              <a:t>"An agent like Claude Code can easily modify over a hundred files in a single pull request."</a:t>
            </a:r>
            <a:endParaRPr/>
          </a:p>
          <a:p>
            <a:pPr indent="0" lvl="0" marL="381000" marR="381000" rtl="0" algn="l">
              <a:lnSpc>
                <a:spcPct val="115000"/>
              </a:lnSpc>
              <a:spcBef>
                <a:spcPts val="1200"/>
              </a:spcBef>
              <a:spcAft>
                <a:spcPts val="0"/>
              </a:spcAft>
              <a:buClr>
                <a:schemeClr val="dk1"/>
              </a:buClr>
              <a:buSzPts val="1100"/>
              <a:buFont typeface="Arial"/>
              <a:buNone/>
            </a:pPr>
            <a:r>
              <a:rPr lang="en"/>
              <a:t>"GitHub shows hundreds of textual diffs, but reviewers aren't interested in reading every line. They want answers to much higher-level questions."</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324a53f7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324a53f7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324a53f7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324a53f7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ARCHON computes the architectural delta first."</a:t>
            </a:r>
            <a:endParaRPr/>
          </a:p>
          <a:p>
            <a:pPr indent="0" lvl="0" marL="381000" marR="381000" rtl="0" algn="l">
              <a:lnSpc>
                <a:spcPct val="115000"/>
              </a:lnSpc>
              <a:spcBef>
                <a:spcPts val="1200"/>
              </a:spcBef>
              <a:spcAft>
                <a:spcPts val="0"/>
              </a:spcAft>
              <a:buClr>
                <a:schemeClr val="dk1"/>
              </a:buClr>
              <a:buSzPts val="1100"/>
              <a:buFont typeface="Arial"/>
              <a:buNone/>
            </a:pPr>
            <a:r>
              <a:rPr lang="en"/>
              <a:t>"If the change is entirely internal and doesn't alter architectural boundaries, it can potentially be admitted automatically."</a:t>
            </a:r>
            <a:endParaRPr/>
          </a:p>
          <a:p>
            <a:pPr indent="0" lvl="0" marL="381000" marR="381000" rtl="0" algn="l">
              <a:lnSpc>
                <a:spcPct val="115000"/>
              </a:lnSpc>
              <a:spcBef>
                <a:spcPts val="1200"/>
              </a:spcBef>
              <a:spcAft>
                <a:spcPts val="0"/>
              </a:spcAft>
              <a:buClr>
                <a:schemeClr val="dk1"/>
              </a:buClr>
              <a:buSzPts val="1100"/>
              <a:buFont typeface="Arial"/>
              <a:buNone/>
            </a:pPr>
            <a:r>
              <a:rPr lang="en"/>
              <a:t>"If the change crosses architectural boundaries, it requires human review."</a:t>
            </a:r>
            <a:endParaRPr/>
          </a:p>
          <a:p>
            <a:pPr indent="0" lvl="0" marL="381000" marR="38100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324a53f71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324a53f7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"Instead of reasoning about files and lines, reviewers reason about dependency changes, boundary changes, and contract changes."</a:t>
            </a:r>
            <a:endParaRPr>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324a53f7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324a53f7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"The architectural delta becomes the primary review artifact."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324a53f7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324a53f7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Better code review</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first benefit is simply better reviews. Instead of reading thousands of changed lines, reviewers immediately see the architectural intent of the change."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Living documentation</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"Second, the architecture graph is generated directly from the codebase, so documentation stays synchronized automatically. There's no manual architecture diagram that becomes outdated over time."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Continuous conformance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"Third, architectural rules can be checked continuously. For example, if the UI layer is not allowed to directly access the database, ARCHON can detect that violation automatically whenever a new pull request is opened."</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Safe autonomous development</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"Finally, this creates a path toward safe AI-assisted development. AI agents can freely evolve internal implementations, while changes that modify architectural boundaries are automatically escalated for human review."</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430e34dc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430e34dc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Goal 1 – Make architectural change first-class and reviewable</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main idea is to review architectural changes, not just code changes. Instead of focusing on modified lines, reviewers can immediately understand how the system's design evolved."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Goal 2 – Keep documentation from drifting</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"Since the architecture graph is generated directly from the code, documentation stays synchronized automatically and doesn't become outdated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Goal 3 – Give agents a checkable boundary for safe autonomy</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"ARCHON gives AI agents clear architectural boundaries. Internal changes can be automated, while changes that modify the architecture are flagged for human review."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Goal 4 – Work on messy brownfield repositories</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"Finally, ARCHON is designed for existing industrial codebases, not just new greenfield projects. It can extract the current architecture and help teams gradually improve it over time instead of requiring a perfect design from day one."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324a53f7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324a53f7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324a53f71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324a53f7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"The graph isn't limited to source code."</a:t>
            </a:r>
            <a:endParaRPr/>
          </a:p>
          <a:p>
            <a:pPr indent="0" lvl="0" marL="381000" marR="381000" rtl="0" algn="l">
              <a:lnSpc>
                <a:spcPct val="115000"/>
              </a:lnSpc>
              <a:spcBef>
                <a:spcPts val="1200"/>
              </a:spcBef>
              <a:spcAft>
                <a:spcPts val="0"/>
              </a:spcAft>
              <a:buClr>
                <a:schemeClr val="dk1"/>
              </a:buClr>
              <a:buSzPts val="1100"/>
              <a:buFont typeface="Arial"/>
              <a:buNone/>
            </a:pPr>
            <a:r>
              <a:rPr lang="en"/>
              <a:t>"Nodes can represent packages, classes, functions, API endpoints, configuration keys, database tables, message queues, metrics, trace spans, external services, runtime platforms, and permissions."</a:t>
            </a:r>
            <a:endParaRPr/>
          </a:p>
          <a:p>
            <a:pPr indent="0" lvl="0" marL="381000" marR="381000" rtl="0" algn="l">
              <a:lnSpc>
                <a:spcPct val="115000"/>
              </a:lnSpc>
              <a:spcBef>
                <a:spcPts val="1200"/>
              </a:spcBef>
              <a:spcAft>
                <a:spcPts val="0"/>
              </a:spcAft>
              <a:buClr>
                <a:schemeClr val="dk1"/>
              </a:buClr>
              <a:buSzPts val="1100"/>
              <a:buFont typeface="Arial"/>
              <a:buNone/>
            </a:pPr>
            <a:r>
              <a:rPr lang="en"/>
              <a:t>"The goal is to capture architecture rather than just program syntax.</a:t>
            </a:r>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324a53f71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324a53f7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"Edges represent relationships between those nodes."</a:t>
            </a:r>
            <a:endParaRPr/>
          </a:p>
          <a:p>
            <a:pPr indent="0" lvl="0" marL="381000" marR="381000" rtl="0" algn="l">
              <a:lnSpc>
                <a:spcPct val="115000"/>
              </a:lnSpc>
              <a:spcBef>
                <a:spcPts val="1200"/>
              </a:spcBef>
              <a:spcAft>
                <a:spcPts val="0"/>
              </a:spcAft>
              <a:buClr>
                <a:schemeClr val="dk1"/>
              </a:buClr>
              <a:buSzPts val="1100"/>
              <a:buFont typeface="Arial"/>
              <a:buNone/>
            </a:pPr>
            <a:r>
              <a:rPr lang="en"/>
              <a:t>"Some are traditional software relationships, such as imports and function calls."</a:t>
            </a:r>
            <a:endParaRPr/>
          </a:p>
          <a:p>
            <a:pPr indent="0" lvl="0" marL="381000" marR="381000" rtl="0" algn="l">
              <a:lnSpc>
                <a:spcPct val="115000"/>
              </a:lnSpc>
              <a:spcBef>
                <a:spcPts val="1200"/>
              </a:spcBef>
              <a:spcAft>
                <a:spcPts val="0"/>
              </a:spcAft>
              <a:buClr>
                <a:schemeClr val="dk1"/>
              </a:buClr>
              <a:buSzPts val="1100"/>
              <a:buFont typeface="Arial"/>
              <a:buNone/>
            </a:pPr>
            <a:r>
              <a:rPr lang="en"/>
              <a:t>"Others are operational relationships—for example reading configuration values, accessing databases, emitting metrics, or communicating with external services."</a:t>
            </a:r>
            <a:endParaRPr/>
          </a:p>
          <a:p>
            <a:pPr indent="0" lvl="0" marL="381000" marR="381000" rtl="0" algn="l">
              <a:lnSpc>
                <a:spcPct val="115000"/>
              </a:lnSpc>
              <a:spcBef>
                <a:spcPts val="1200"/>
              </a:spcBef>
              <a:spcAft>
                <a:spcPts val="0"/>
              </a:spcAft>
              <a:buClr>
                <a:schemeClr val="dk1"/>
              </a:buClr>
              <a:buSzPts val="1100"/>
              <a:buFont typeface="Arial"/>
              <a:buNone/>
            </a:pPr>
            <a:r>
              <a:rPr lang="en"/>
              <a:t>"These richer edge types allow the graph to represent the operational architecture of the system, not just its source code structur</a:t>
            </a:r>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324a53f7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324a53f7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One challenge is that not every architectural relationship can be discovered statically."</a:t>
            </a:r>
            <a:endParaRPr/>
          </a:p>
          <a:p>
            <a:pPr indent="0" lvl="0" marL="381000" marR="381000" rtl="0" algn="l">
              <a:lnSpc>
                <a:spcPct val="115000"/>
              </a:lnSpc>
              <a:spcBef>
                <a:spcPts val="1200"/>
              </a:spcBef>
              <a:spcAft>
                <a:spcPts val="0"/>
              </a:spcAft>
              <a:buClr>
                <a:schemeClr val="dk1"/>
              </a:buClr>
              <a:buSzPts val="1100"/>
              <a:buFont typeface="Arial"/>
              <a:buNone/>
            </a:pPr>
            <a:r>
              <a:rPr lang="en"/>
              <a:t>"Some dependencies only become visible when the application runs."</a:t>
            </a:r>
            <a:endParaRPr/>
          </a:p>
          <a:p>
            <a:pPr indent="0" lvl="0" marL="381000" marR="381000" rtl="0" algn="l">
              <a:lnSpc>
                <a:spcPct val="115000"/>
              </a:lnSpc>
              <a:spcBef>
                <a:spcPts val="1200"/>
              </a:spcBef>
              <a:spcAft>
                <a:spcPts val="0"/>
              </a:spcAft>
              <a:buClr>
                <a:schemeClr val="dk1"/>
              </a:buClr>
              <a:buSzPts val="1100"/>
              <a:buFont typeface="Arial"/>
              <a:buNone/>
            </a:pPr>
            <a:r>
              <a:rPr lang="en"/>
              <a:t>"For example, the application might dynamically connect to Stripe, load plugins at runtime, establish database connections, or communicate with services discovered dynamically."</a:t>
            </a:r>
            <a:endParaRPr/>
          </a:p>
          <a:p>
            <a:pPr indent="0" lvl="0" marL="381000" marR="381000" rtl="0" algn="l">
              <a:lnSpc>
                <a:spcPct val="115000"/>
              </a:lnSpc>
              <a:spcBef>
                <a:spcPts val="1200"/>
              </a:spcBef>
              <a:spcAft>
                <a:spcPts val="0"/>
              </a:spcAft>
              <a:buClr>
                <a:schemeClr val="dk1"/>
              </a:buClr>
              <a:buSzPts val="1100"/>
              <a:buFont typeface="Arial"/>
              <a:buNone/>
            </a:pPr>
            <a:r>
              <a:rPr lang="en"/>
              <a:t>"One possible extension is to augment the static graph using runtime traces—such as OpenTelemetry—to discover and validate these runtime-only edges."</a:t>
            </a:r>
            <a:endParaRPr/>
          </a:p>
          <a:p>
            <a:pPr indent="0" lvl="0" marL="0" rtl="0" algn="l">
              <a:spcBef>
                <a:spcPts val="120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430e34dc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f430e34dc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So there are</a:t>
            </a:r>
            <a:r>
              <a:rPr lang="en"/>
              <a:t> tools for enforcing architecture rules. For example, a team might define a rule saying the UI layer is not allowed to directly access the database. Every time someone commits code, the tool checks whether that rule was violated. If it was, the build fails."</a:t>
            </a:r>
            <a:endParaRPr/>
          </a:p>
          <a:p>
            <a:pPr indent="0" lvl="0" marL="381000" marR="381000" rtl="0" algn="l">
              <a:lnSpc>
                <a:spcPct val="115000"/>
              </a:lnSpc>
              <a:spcBef>
                <a:spcPts val="1200"/>
              </a:spcBef>
              <a:spcAft>
                <a:spcPts val="0"/>
              </a:spcAft>
              <a:buClr>
                <a:schemeClr val="dk1"/>
              </a:buClr>
              <a:buSzPts val="1100"/>
              <a:buFont typeface="Arial"/>
              <a:buNone/>
            </a:pPr>
            <a:r>
              <a:rPr lang="en"/>
              <a:t>"The important point is that these tools only check rules that developers have already written. They don't tell you how the architecture itself changed."</a:t>
            </a:r>
            <a:endParaRPr/>
          </a:p>
          <a:p>
            <a:pPr indent="0" lvl="0" marL="381000" marR="381000" rtl="0" algn="l">
              <a:lnSpc>
                <a:spcPct val="115000"/>
              </a:lnSpc>
              <a:spcBef>
                <a:spcPts val="1200"/>
              </a:spcBef>
              <a:spcAft>
                <a:spcPts val="1200"/>
              </a:spcAft>
              <a:buNone/>
            </a:pPr>
            <a:r>
              <a:rPr lang="en"/>
              <a:t>"ARCHON takes a different approach. It first derives the architecture automatically from the codebase, then compares the old and new versions of that architecture. Instead of simply saying 'a rule was broken,' it tells reviewers what architectural change the PR actually introduced."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430e34dc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430e34dc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lang="en">
                <a:solidFill>
                  <a:schemeClr val="dk1"/>
                </a:solidFill>
              </a:rPr>
              <a:t>"These tools detect things like renaming a class or moving a file. So if you simply rename </a:t>
            </a:r>
            <a:r>
              <a:rPr lang="en">
                <a:solidFill>
                  <a:srgbClr val="188038"/>
                </a:solidFill>
                <a:latin typeface="Roboto Mono"/>
                <a:ea typeface="Roboto Mono"/>
                <a:cs typeface="Roboto Mono"/>
                <a:sym typeface="Roboto Mono"/>
              </a:rPr>
              <a:t>UserService</a:t>
            </a:r>
            <a:r>
              <a:rPr lang="en">
                <a:solidFill>
                  <a:schemeClr val="dk1"/>
                </a:solidFill>
              </a:rPr>
              <a:t> to </a:t>
            </a:r>
            <a:r>
              <a:rPr lang="en">
                <a:solidFill>
                  <a:srgbClr val="188038"/>
                </a:solidFill>
                <a:latin typeface="Roboto Mono"/>
                <a:ea typeface="Roboto Mono"/>
                <a:cs typeface="Roboto Mono"/>
                <a:sym typeface="Roboto Mono"/>
              </a:rPr>
              <a:t>AccountService</a:t>
            </a:r>
            <a:r>
              <a:rPr lang="en">
                <a:solidFill>
                  <a:schemeClr val="dk1"/>
                </a:solidFill>
              </a:rPr>
              <a:t>, they know it's still the same piece of code instead of thinking you deleted one file and created another."</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"ARCHON builds on that. It uses this information to compare the architecture before and after the change, and asks whether the architecture actually changed or whether it was just a refactoring."</a:t>
            </a:r>
            <a:endParaRPr>
              <a:solidFill>
                <a:schemeClr val="dk1"/>
              </a:solidFill>
            </a:endParaRPr>
          </a:p>
          <a:p>
            <a:pPr indent="0" lvl="0" marL="381000" marR="381000" rtl="0" algn="l">
              <a:lnSpc>
                <a:spcPct val="115000"/>
              </a:lnSpc>
              <a:spcBef>
                <a:spcPts val="1200"/>
              </a:spcBef>
              <a:spcAft>
                <a:spcPts val="120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430e34dc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430e34dc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430e34dc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430e34dc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 with 6</a:t>
            </a:r>
            <a:endParaRPr/>
          </a:p>
          <a:p>
            <a:pPr indent="0" lvl="0" marL="0" rtl="0" algn="l">
              <a:spcBef>
                <a:spcPts val="0"/>
              </a:spcBef>
              <a:spcAft>
                <a:spcPts val="0"/>
              </a:spcAft>
              <a:buNone/>
            </a:pPr>
            <a:r>
              <a:rPr lang="en"/>
              <a:t>What doe success loook like</a:t>
            </a:r>
            <a:endParaRPr/>
          </a:p>
          <a:p>
            <a:pPr indent="0" lvl="0" marL="0" rtl="0" algn="l">
              <a:spcBef>
                <a:spcPts val="0"/>
              </a:spcBef>
              <a:spcAft>
                <a:spcPts val="0"/>
              </a:spcAft>
              <a:buNone/>
            </a:pPr>
            <a:r>
              <a:rPr lang="en"/>
              <a:t>Scenairo a -&gt; expect a</a:t>
            </a:r>
            <a:endParaRPr/>
          </a:p>
          <a:p>
            <a:pPr indent="0" lvl="0" marL="0" rtl="0" algn="l">
              <a:spcBef>
                <a:spcPts val="0"/>
              </a:spcBef>
              <a:spcAft>
                <a:spcPts val="0"/>
              </a:spcAft>
              <a:buNone/>
            </a:pPr>
            <a:r>
              <a:rPr lang="en"/>
              <a:t>Scenario b</a:t>
            </a:r>
            <a:endParaRPr/>
          </a:p>
          <a:p>
            <a:pPr indent="0" lvl="0" marL="0" rtl="0" algn="l">
              <a:spcBef>
                <a:spcPts val="0"/>
              </a:spcBef>
              <a:spcAft>
                <a:spcPts val="0"/>
              </a:spcAft>
              <a:buNone/>
            </a:pPr>
            <a:r>
              <a:rPr lang="en"/>
              <a:t>How can u quantify</a:t>
            </a:r>
            <a:endParaRPr/>
          </a:p>
          <a:p>
            <a:pPr indent="0" lvl="0" marL="0" rtl="0" algn="l">
              <a:spcBef>
                <a:spcPts val="0"/>
              </a:spcBef>
              <a:spcAft>
                <a:spcPts val="0"/>
              </a:spcAft>
              <a:buNone/>
            </a:pPr>
            <a:r>
              <a:rPr lang="en"/>
              <a:t>How nodes and edges look like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Property testing</a:t>
            </a:r>
            <a:endParaRPr/>
          </a:p>
          <a:p>
            <a:pPr indent="0" lvl="0" marL="0" rtl="0" algn="l">
              <a:spcBef>
                <a:spcPts val="0"/>
              </a:spcBef>
              <a:spcAft>
                <a:spcPts val="0"/>
              </a:spcAft>
              <a:buNone/>
            </a:pPr>
            <a:r>
              <a:rPr lang="en"/>
              <a:t>Can we mix that in</a:t>
            </a:r>
            <a:endParaRPr/>
          </a:p>
          <a:p>
            <a:pPr indent="0" lvl="0" marL="0" rtl="0" algn="l">
              <a:spcBef>
                <a:spcPts val="0"/>
              </a:spcBef>
              <a:spcAft>
                <a:spcPts val="0"/>
              </a:spcAft>
              <a:buNone/>
            </a:pPr>
            <a:r>
              <a:rPr lang="en"/>
              <a:t>Code must do</a:t>
            </a:r>
            <a:endParaRPr/>
          </a:p>
          <a:p>
            <a:pPr indent="0" lvl="0" marL="0" rtl="0" algn="l">
              <a:spcBef>
                <a:spcPts val="0"/>
              </a:spcBef>
              <a:spcAft>
                <a:spcPts val="0"/>
              </a:spcAft>
              <a:buNone/>
            </a:pPr>
            <a:r>
              <a:rPr lang="en"/>
              <a:t>Linting more than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Red green blue</a:t>
            </a:r>
            <a:endParaRPr/>
          </a:p>
          <a:p>
            <a:pPr indent="0" lvl="0" marL="0" rtl="0" algn="l">
              <a:spcBef>
                <a:spcPts val="0"/>
              </a:spcBef>
              <a:spcAft>
                <a:spcPts val="0"/>
              </a:spcAft>
              <a:buNone/>
            </a:pPr>
            <a:r>
              <a:rPr lang="en"/>
              <a:t>Deletes changes additions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Maybe just refacotring </a:t>
            </a:r>
            <a:endParaRPr/>
          </a:p>
          <a:p>
            <a:pPr indent="0" lvl="0" marL="0" rtl="0" algn="l">
              <a:spcBef>
                <a:spcPts val="0"/>
              </a:spcBef>
              <a:spcAft>
                <a:spcPts val="0"/>
              </a:spcAft>
              <a:buNone/>
            </a:pPr>
            <a:r>
              <a:rPr lang="en"/>
              <a:t>Pre and post pr</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430e34dcd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f430e34dc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430e34dc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f430e34dc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5426c88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f5426c88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5426c881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5426c88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oday, when someone opens a pull request, the review is driven by a textual diff—things like '9 files changed' or '174 lines added.' That tells us what code changed, but not what changed in the system's design.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5426c881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5426c881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The idea behind ARCHON is to review changes at the architecture level instead of just the code level. Rather than showing every modified line, ARCHON builds a picture of the system and highlights only the architectural changes. For example, did a new component appear? Did two components become connected? Did a public interface change? The goal is to give reviewers a much smaller and more meaningful summary of what actually changed."</a:t>
            </a:r>
            <a:endParaRPr/>
          </a:p>
          <a:p>
            <a:pPr indent="0" lvl="0" marL="0" rtl="0" algn="l">
              <a:spcBef>
                <a:spcPts val="120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5426c881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5426c881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currently have a working Go prototype with three main commands. The first extracts the architecture graph for a specific commit. The second compares two commits and produces the architectural delta. And the third renders the graph as a visual diagram. Everything I'll show today is built using these three commands."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5426c881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f5426c881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 started with the BLIS repository. One reason i chose this is because BLIS is written in Go, and in go, packages map naturally to different architectural modules. So For each of the last 80 merged changes, we looked at the repository before and after the change, built an architecture graph for each version, computed the architectural delta, and then compared that against the normal Git diff."</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Since BLIS squash-merges PRs, each merged PR appears as a single commit on the main branch. So for every merged change we compare the parent commit ("before") against the merge commit ("after").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5426c881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5426c881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For every change, the process is always the same. We take the parent commit, build its architecture graph, then build another graph for the new commit. We compare those two graphs to find the architectural delta. Finally, we compare that architectural delta with the normal Git diff to see how much smaller the architectural review becomes."</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We used commits because commits are exact, reproducible snapshots of code. For BLIS, this approximates PRs because the project squash-merges, so one main-branch commit roughly corresponds to one merged PR.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5426c881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f5426c881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So some Key observations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57%</a:t>
            </a:r>
            <a:r>
              <a:rPr lang="en">
                <a:solidFill>
                  <a:schemeClr val="dk1"/>
                </a:solidFill>
              </a:rPr>
              <a:t> of recent PRs did </a:t>
            </a:r>
            <a:r>
              <a:rPr b="1" lang="en">
                <a:solidFill>
                  <a:schemeClr val="dk1"/>
                </a:solidFill>
              </a:rPr>
              <a:t>not</a:t>
            </a:r>
            <a:r>
              <a:rPr lang="en">
                <a:solidFill>
                  <a:schemeClr val="dk1"/>
                </a:solidFill>
              </a:rPr>
              <a:t> modify package boundaries, despite still changing around </a:t>
            </a:r>
            <a:r>
              <a:rPr b="1" lang="en">
                <a:solidFill>
                  <a:schemeClr val="dk1"/>
                </a:solidFill>
              </a:rPr>
              <a:t>220 lines of code</a:t>
            </a:r>
            <a:r>
              <a:rPr lang="en">
                <a:solidFill>
                  <a:schemeClr val="dk1"/>
                </a:solidFill>
              </a:rPr>
              <a:t> on average.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When a PR </a:t>
            </a:r>
            <a:r>
              <a:rPr b="1" lang="en">
                <a:solidFill>
                  <a:schemeClr val="dk1"/>
                </a:solidFill>
              </a:rPr>
              <a:t>did</a:t>
            </a:r>
            <a:r>
              <a:rPr lang="en">
                <a:solidFill>
                  <a:schemeClr val="dk1"/>
                </a:solidFill>
              </a:rPr>
              <a:t> modify the architecture, the review object shrank from roughly </a:t>
            </a:r>
            <a:r>
              <a:rPr b="1" lang="en">
                <a:solidFill>
                  <a:schemeClr val="dk1"/>
                </a:solidFill>
              </a:rPr>
              <a:t>883 changed lines</a:t>
            </a:r>
            <a:r>
              <a:rPr lang="en">
                <a:solidFill>
                  <a:schemeClr val="dk1"/>
                </a:solidFill>
              </a:rPr>
              <a:t> to about </a:t>
            </a:r>
            <a:r>
              <a:rPr b="1" lang="en">
                <a:solidFill>
                  <a:schemeClr val="dk1"/>
                </a:solidFill>
              </a:rPr>
              <a:t>4 architectural facts</a:t>
            </a:r>
            <a:r>
              <a:rPr lang="en">
                <a:solidFill>
                  <a:schemeClr val="dk1"/>
                </a:solidFill>
              </a:rPr>
              <a:t> (e.g., </a:t>
            </a:r>
            <a:r>
              <a:rPr i="1" lang="en">
                <a:solidFill>
                  <a:schemeClr val="dk1"/>
                </a:solidFill>
              </a:rPr>
              <a:t>dependency added</a:t>
            </a:r>
            <a:r>
              <a:rPr lang="en">
                <a:solidFill>
                  <a:schemeClr val="dk1"/>
                </a:solidFill>
              </a:rPr>
              <a:t>, </a:t>
            </a:r>
            <a:r>
              <a:rPr i="1" lang="en">
                <a:solidFill>
                  <a:schemeClr val="dk1"/>
                </a:solidFill>
              </a:rPr>
              <a:t>public interface changed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Example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PR #1322 — "Ignore docs/plans/"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88,873 changed lines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162 modified files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Every file was </a:t>
            </a:r>
            <a:r>
              <a:rPr b="1" lang="en">
                <a:solidFill>
                  <a:schemeClr val="dk1"/>
                </a:solidFill>
              </a:rPr>
              <a:t>Markdown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Architectural delta: Empty</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Even though Git reports a massive textual diff, ARCHON correctly reports </a:t>
            </a:r>
            <a:r>
              <a:rPr b="1" lang="en">
                <a:solidFill>
                  <a:schemeClr val="dk1"/>
                </a:solidFill>
              </a:rPr>
              <a:t>no architectural change</a:t>
            </a:r>
            <a:r>
              <a:rPr lang="en">
                <a:solidFill>
                  <a:schemeClr val="dk1"/>
                </a:solidFill>
              </a:rPr>
              <a:t>.</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Why 160 extractions?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Title:</a:t>
            </a:r>
            <a:r>
              <a:rPr lang="en">
                <a:solidFill>
                  <a:schemeClr val="dk1"/>
                </a:solidFill>
              </a:rPr>
              <a:t> 80 changes means 160 graph extractions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each change: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1 before graph + 1 after graph = 2 graph extractions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80 BLIS changes:</a:t>
            </a:r>
            <a:endParaRPr>
              <a:solidFill>
                <a:schemeClr val="dk1"/>
              </a:solidFill>
            </a:endParaRPr>
          </a:p>
          <a:p>
            <a:pPr indent="0" lvl="0" marL="0" rtl="0" algn="l">
              <a:spcBef>
                <a:spcPts val="1200"/>
              </a:spcBef>
              <a:spcAft>
                <a:spcPts val="0"/>
              </a:spcAft>
              <a:buNone/>
            </a:pPr>
            <a:r>
              <a:rPr lang="en">
                <a:solidFill>
                  <a:schemeClr val="dk1"/>
                </a:solidFill>
              </a:rPr>
              <a:t>80 before graphs</a:t>
            </a:r>
            <a:endParaRPr>
              <a:solidFill>
                <a:schemeClr val="dk1"/>
              </a:solidFill>
            </a:endParaRPr>
          </a:p>
          <a:p>
            <a:pPr indent="0" lvl="0" marL="0" rtl="0" algn="l">
              <a:spcBef>
                <a:spcPts val="0"/>
              </a:spcBef>
              <a:spcAft>
                <a:spcPts val="0"/>
              </a:spcAft>
              <a:buNone/>
            </a:pPr>
            <a:r>
              <a:rPr lang="en">
                <a:solidFill>
                  <a:schemeClr val="dk1"/>
                </a:solidFill>
              </a:rPr>
              <a:t>+ 80 after graphs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160 total graph extractions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Result: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160 / 160 extracted successfully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Meaning:</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ARCHON successfully built the architecture graph for every before/after snapshot</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Takeaway:</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More than half of recent BLIS changes modified code without changing the modeled architecture. When architecture did change, ARCHON reduced a large textual diff into a few reviewable design facts.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5426c881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5426c881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an issue with using blis here is we dont really have the ground truth so i dont really know for sure if what archon is saying is correct and so i </a:t>
            </a:r>
            <a:r>
              <a:rPr lang="en"/>
              <a:t>wanted</a:t>
            </a:r>
            <a:r>
              <a:rPr lang="en"/>
              <a:t> to find a repo where somehow the </a:t>
            </a:r>
            <a:r>
              <a:rPr lang="en"/>
              <a:t>architecture</a:t>
            </a:r>
            <a:r>
              <a:rPr lang="en"/>
              <a:t> is known so i have some ground truth </a:t>
            </a:r>
            <a:endParaRPr/>
          </a:p>
          <a:p>
            <a:pPr indent="0" lvl="0" marL="0" rtl="0" algn="l">
              <a:spcBef>
                <a:spcPts val="0"/>
              </a:spcBef>
              <a:spcAft>
                <a:spcPts val="0"/>
              </a:spcAft>
              <a:buNone/>
            </a:pPr>
            <a:r>
              <a:rPr lang="en"/>
              <a:t>And we found this mciroserveice rpeo where every major architectural evolution is documented and linked to a specific commit, so i could compare archon against it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Instead of guessing what is "architectural," we can compare ARCHON's output against the maintainers' own explanation.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5426c881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f5426c881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5426c881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5426c881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each commit, we first build an architecture graph. Instead of parsing Go ourselves, we use </a:t>
            </a:r>
            <a:r>
              <a:rPr b="1" lang="en">
                <a:solidFill>
                  <a:schemeClr val="dk1"/>
                </a:solidFill>
              </a:rPr>
              <a:t>Go's </a:t>
            </a:r>
            <a:r>
              <a:rPr b="1" lang="en">
                <a:solidFill>
                  <a:srgbClr val="188038"/>
                </a:solidFill>
                <a:latin typeface="Roboto Mono"/>
                <a:ea typeface="Roboto Mono"/>
                <a:cs typeface="Roboto Mono"/>
                <a:sym typeface="Roboto Mono"/>
              </a:rPr>
              <a:t>go/packages</a:t>
            </a:r>
            <a:r>
              <a:rPr b="1" lang="en">
                <a:solidFill>
                  <a:schemeClr val="dk1"/>
                </a:solidFill>
              </a:rPr>
              <a:t> library</a:t>
            </a:r>
            <a:r>
              <a:rPr lang="en">
                <a:solidFill>
                  <a:schemeClr val="dk1"/>
                </a:solidFill>
              </a:rPr>
              <a:t>—the same infrastructure used by the Go compiler—to understand the project. It resolves packages, imports, function calls, and interface implementations. ARCHON then extracts the architectural relationships it needs, builds a graph for each commit, and compares the two graphs to find the architectural delta</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5426c881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5426c881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each documented architectural change, we ran ARCHON on the commit before the change and the commit after it. We then compared ARCHON's architectural delta against what the project maintainers themselves said they had changed. This lets us evaluate correctness rather than just compression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5426c881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f5426c881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5426c881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f5426c881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we're looking at the architecture before and after the caching change.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5426c881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f5426c881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the developers added kafka support</a:t>
            </a:r>
            <a:endParaRPr/>
          </a:p>
          <a:p>
            <a:pPr indent="0" lvl="0" marL="0" rtl="0" algn="l">
              <a:spcBef>
                <a:spcPts val="0"/>
              </a:spcBef>
              <a:spcAft>
                <a:spcPts val="0"/>
              </a:spcAft>
              <a:buNone/>
            </a:pPr>
            <a:r>
              <a:rPr lang="en"/>
              <a:t>This combined delta view makes the architectural evolution much easier to understand than reading hundreds of changed lines. Instead of manually reconstructing the design from code, reviewers immediately see which components were added, removed, or rewired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f5426c881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f5426c881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595959"/>
                </a:solidFill>
              </a:rPr>
              <a:t>Test whether archon stays quiet when NO architectural changes are made because i wanted to see if it just flags eveyrthing</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5426c881a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f5426c881a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architectural decisions aren't visible from imports alone. For example, adding a new configuration flag, changing a protocol, or introducing a GPU backend can all be important architectural changes even though the package structure barely changes. We'd like ARCHON to model those relationships as well</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5426c881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f5426c881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Right now, ARCHON identifies architectural changes. Ideally, we'd like it to connect those changes to the system's guarantees and invariants that could help reviewers udnerstand when existing tests should still be sufficient, and when a new architectural change requires new properties to be checked.</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5426c881a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f5426c881a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5426c881a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f5426c881a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f5426c881a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f5426c881a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5426c881a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f5426c881a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f57194a2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f57194a2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think this is actually the </a:t>
            </a:r>
            <a:r>
              <a:rPr b="1" lang="en">
                <a:solidFill>
                  <a:schemeClr val="dk1"/>
                </a:solidFill>
              </a:rPr>
              <a:t>hardest conceptual leap</a:t>
            </a:r>
            <a:r>
              <a:rPr lang="en">
                <a:solidFill>
                  <a:schemeClr val="dk1"/>
                </a:solidFill>
              </a:rPr>
              <a:t> in the whole paper. The word </a:t>
            </a:r>
            <a:r>
              <a:rPr b="1" lang="en">
                <a:solidFill>
                  <a:schemeClr val="dk1"/>
                </a:solidFill>
              </a:rPr>
              <a:t>"invariant"</a:t>
            </a:r>
            <a:r>
              <a:rPr lang="en">
                <a:solidFill>
                  <a:schemeClr val="dk1"/>
                </a:solidFill>
              </a:rPr>
              <a:t> sounds mathematical, but in your context it just means: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A property of the system that should always remain true, regardless of how the implementation changes.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Think of it as a </a:t>
            </a:r>
            <a:r>
              <a:rPr b="1" lang="en">
                <a:solidFill>
                  <a:schemeClr val="dk1"/>
                </a:solidFill>
              </a:rPr>
              <a:t>promise</a:t>
            </a:r>
            <a:r>
              <a:rPr lang="en">
                <a:solidFill>
                  <a:schemeClr val="dk1"/>
                </a:solidFill>
              </a:rPr>
              <a:t> the system makes.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Let's forget ARCHON for a second</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you write a stack.</a:t>
            </a:r>
            <a:endParaRPr>
              <a:solidFill>
                <a:schemeClr val="dk1"/>
              </a:solidFill>
            </a:endParaRPr>
          </a:p>
          <a:p>
            <a:pPr indent="0" lvl="0" marL="0" rtl="0" algn="l">
              <a:spcBef>
                <a:spcPts val="1200"/>
              </a:spcBef>
              <a:spcAft>
                <a:spcPts val="0"/>
              </a:spcAft>
              <a:buNone/>
            </a:pPr>
            <a:r>
              <a:rPr lang="en">
                <a:solidFill>
                  <a:schemeClr val="dk1"/>
                </a:solidFill>
              </a:rPr>
              <a:t>push(5)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push(10)</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pop()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invariant is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The last item pushed is always the first one popped (LIFO).</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You can completely rewrite the implementation: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linked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array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vector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Doesn't matter.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invariant is still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stack behaves like a stack.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Now let's use BLIS</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BLIS has</a:t>
            </a:r>
            <a:endParaRPr>
              <a:solidFill>
                <a:schemeClr val="dk1"/>
              </a:solidFill>
            </a:endParaRPr>
          </a:p>
          <a:p>
            <a:pPr indent="0" lvl="0" marL="0" rtl="0" algn="l">
              <a:spcBef>
                <a:spcPts val="1200"/>
              </a:spcBef>
              <a:spcAft>
                <a:spcPts val="0"/>
              </a:spcAft>
              <a:buNone/>
            </a:pPr>
            <a:r>
              <a:rPr lang="en">
                <a:solidFill>
                  <a:schemeClr val="dk1"/>
                </a:solidFill>
              </a:rPr>
              <a:t>Request Generator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Simulator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Results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invariant might be</a:t>
            </a:r>
            <a:endParaRPr>
              <a:solidFill>
                <a:schemeClr val="dk1"/>
              </a:solidFill>
            </a:endParaRPr>
          </a:p>
          <a:p>
            <a:pPr indent="0" lvl="0" marL="0" rtl="0" algn="l">
              <a:spcBef>
                <a:spcPts val="1200"/>
              </a:spcBef>
              <a:spcAft>
                <a:spcPts val="0"/>
              </a:spcAft>
              <a:buNone/>
            </a:pPr>
            <a:r>
              <a:rPr lang="en">
                <a:solidFill>
                  <a:schemeClr val="dk1"/>
                </a:solidFill>
              </a:rPr>
              <a:t>Given the same seed and same input,</a:t>
            </a:r>
            <a:endParaRPr>
              <a:solidFill>
                <a:schemeClr val="dk1"/>
              </a:solidFill>
            </a:endParaRPr>
          </a:p>
          <a:p>
            <a:pPr indent="0" lvl="0" marL="0" rtl="0" algn="l">
              <a:spcBef>
                <a:spcPts val="0"/>
              </a:spcBef>
              <a:spcAft>
                <a:spcPts val="0"/>
              </a:spcAft>
              <a:buNone/>
            </a:pPr>
            <a:r>
              <a:rPr lang="en">
                <a:solidFill>
                  <a:schemeClr val="dk1"/>
                </a:solidFill>
              </a:rPr>
              <a:t>the simulator always produces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same output.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Notice this says </a:t>
            </a:r>
            <a:r>
              <a:rPr b="1" lang="en">
                <a:solidFill>
                  <a:schemeClr val="dk1"/>
                </a:solidFill>
              </a:rPr>
              <a:t>nothing about the implementation</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Maybe today the code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Tomorrow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goroutines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week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channels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Doesn't matter.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promise is still</a:t>
            </a:r>
            <a:endParaRPr>
              <a:solidFill>
                <a:schemeClr val="dk1"/>
              </a:solidFill>
            </a:endParaRPr>
          </a:p>
          <a:p>
            <a:pPr indent="0" lvl="0" marL="0" rtl="0" algn="l">
              <a:spcBef>
                <a:spcPts val="1200"/>
              </a:spcBef>
              <a:spcAft>
                <a:spcPts val="0"/>
              </a:spcAft>
              <a:buNone/>
            </a:pPr>
            <a:r>
              <a:rPr lang="en">
                <a:solidFill>
                  <a:schemeClr val="dk1"/>
                </a:solidFill>
              </a:rPr>
              <a:t>Same input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Same output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is an invariant.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Another BLIS invariant could be</a:t>
            </a:r>
            <a:endParaRPr>
              <a:solidFill>
                <a:schemeClr val="dk1"/>
              </a:solidFill>
            </a:endParaRPr>
          </a:p>
          <a:p>
            <a:pPr indent="0" lvl="0" marL="0" rtl="0" algn="l">
              <a:spcBef>
                <a:spcPts val="1200"/>
              </a:spcBef>
              <a:spcAft>
                <a:spcPts val="0"/>
              </a:spcAft>
              <a:buNone/>
            </a:pPr>
            <a:r>
              <a:rPr lang="en">
                <a:solidFill>
                  <a:schemeClr val="dk1"/>
                </a:solidFill>
              </a:rPr>
              <a:t>Run mode and Replay mode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produce identical results.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Again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Nothing about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imports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interfaces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packages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It's purely</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"This behavior should always be true."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Another example</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you add a 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a:t>
            </a:r>
            <a:endParaRPr>
              <a:solidFill>
                <a:schemeClr val="dk1"/>
              </a:solidFill>
            </a:endParaRPr>
          </a:p>
          <a:p>
            <a:pPr indent="0" lvl="0" marL="0" rtl="0" algn="l">
              <a:spcBef>
                <a:spcPts val="1200"/>
              </a:spcBef>
              <a:spcAft>
                <a:spcPts val="0"/>
              </a:spcAft>
              <a:buNone/>
            </a:pPr>
            <a:r>
              <a:rPr lang="en">
                <a:solidFill>
                  <a:schemeClr val="dk1"/>
                </a:solidFill>
              </a:rPr>
              <a:t>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Database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 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invariant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Database returns correct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architecture changes</a:t>
            </a:r>
            <a:endParaRPr>
              <a:solidFill>
                <a:schemeClr val="dk1"/>
              </a:solidFill>
            </a:endParaRPr>
          </a:p>
          <a:p>
            <a:pPr indent="0" lvl="0" marL="0" rtl="0" algn="l">
              <a:spcBef>
                <a:spcPts val="1200"/>
              </a:spcBef>
              <a:spcAft>
                <a:spcPts val="0"/>
              </a:spcAft>
              <a:buNone/>
            </a:pPr>
            <a:r>
              <a:rPr lang="en">
                <a:solidFill>
                  <a:schemeClr val="dk1"/>
                </a:solidFill>
              </a:rPr>
              <a:t>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Database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architecture has changed.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now you have a </a:t>
            </a:r>
            <a:r>
              <a:rPr b="1" lang="en">
                <a:solidFill>
                  <a:schemeClr val="dk1"/>
                </a:solidFill>
              </a:rPr>
              <a:t>new promise</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cache must satisfy</a:t>
            </a:r>
            <a:endParaRPr>
              <a:solidFill>
                <a:schemeClr val="dk1"/>
              </a:solidFill>
            </a:endParaRPr>
          </a:p>
          <a:p>
            <a:pPr indent="0" lvl="0" marL="0" rtl="0" algn="l">
              <a:spcBef>
                <a:spcPts val="1200"/>
              </a:spcBef>
              <a:spcAft>
                <a:spcPts val="0"/>
              </a:spcAft>
              <a:buNone/>
            </a:pPr>
            <a:r>
              <a:rPr lang="en">
                <a:solidFill>
                  <a:schemeClr val="dk1"/>
                </a:solidFill>
              </a:rPr>
              <a:t>Cache returns exactly</a:t>
            </a:r>
            <a:endParaRPr>
              <a:solidFill>
                <a:schemeClr val="dk1"/>
              </a:solidFill>
            </a:endParaRPr>
          </a:p>
          <a:p>
            <a:pPr indent="0" lvl="0" marL="0" rtl="0" algn="l">
              <a:spcBef>
                <a:spcPts val="0"/>
              </a:spcBef>
              <a:spcAft>
                <a:spcPts val="0"/>
              </a:spcAft>
              <a:buNone/>
            </a:pPr>
            <a:r>
              <a:rPr lang="en">
                <a:solidFill>
                  <a:schemeClr val="dk1"/>
                </a:solidFill>
              </a:rPr>
              <a:t>the same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database would.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promise didn't exist before.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 is a </a:t>
            </a:r>
            <a:r>
              <a:rPr b="1" lang="en">
                <a:solidFill>
                  <a:schemeClr val="dk1"/>
                </a:solidFill>
              </a:rPr>
              <a:t>new invariant</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So what does</a:t>
            </a:r>
            <a:endParaRPr b="1" sz="23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"Architecture changes"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mean?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the PR adds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Kafka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RabbitMQ</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GPU backend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graph changes.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ARCHON detects</a:t>
            </a:r>
            <a:endParaRPr>
              <a:solidFill>
                <a:schemeClr val="dk1"/>
              </a:solidFill>
            </a:endParaRPr>
          </a:p>
          <a:p>
            <a:pPr indent="0" lvl="0" marL="0" rtl="0" algn="l">
              <a:spcBef>
                <a:spcPts val="1200"/>
              </a:spcBef>
              <a:spcAft>
                <a:spcPts val="0"/>
              </a:spcAft>
              <a:buNone/>
            </a:pPr>
            <a:r>
              <a:rPr lang="en">
                <a:solidFill>
                  <a:schemeClr val="dk1"/>
                </a:solidFill>
              </a:rPr>
              <a:t>+ new box</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new dependency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new interface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Then</a:t>
            </a:r>
            <a:endParaRPr b="1" sz="23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"Behavioral invariants evolve"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important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graph changed.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Ask yourself:</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What new promises does the system now need to make?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a:t>
            </a:r>
            <a:endParaRPr>
              <a:solidFill>
                <a:schemeClr val="dk1"/>
              </a:solidFill>
            </a:endParaRPr>
          </a:p>
          <a:p>
            <a:pPr indent="0" lvl="0" marL="0" rtl="0" algn="l">
              <a:spcBef>
                <a:spcPts val="1200"/>
              </a:spcBef>
              <a:spcAft>
                <a:spcPts val="0"/>
              </a:spcAft>
              <a:buNone/>
            </a:pPr>
            <a:r>
              <a:rPr lang="en">
                <a:solidFill>
                  <a:schemeClr val="dk1"/>
                </a:solidFill>
              </a:rPr>
              <a:t>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Store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Maybe only one invariant existed.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Store always returns correct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a:t>
            </a:r>
            <a:endParaRPr>
              <a:solidFill>
                <a:schemeClr val="dk1"/>
              </a:solidFill>
            </a:endParaRPr>
          </a:p>
          <a:p>
            <a:pPr indent="0" lvl="0" marL="0" rtl="0" algn="l">
              <a:spcBef>
                <a:spcPts val="1200"/>
              </a:spcBef>
              <a:spcAft>
                <a:spcPts val="0"/>
              </a:spcAft>
              <a:buNone/>
            </a:pPr>
            <a:r>
              <a:rPr lang="en">
                <a:solidFill>
                  <a:schemeClr val="dk1"/>
                </a:solidFill>
              </a:rPr>
              <a:t>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Store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there are </a:t>
            </a:r>
            <a:r>
              <a:rPr b="1" lang="en">
                <a:solidFill>
                  <a:schemeClr val="dk1"/>
                </a:solidFill>
              </a:rPr>
              <a:t>more promises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a:t>
            </a:r>
            <a:endParaRPr>
              <a:solidFill>
                <a:schemeClr val="dk1"/>
              </a:solidFill>
            </a:endParaRPr>
          </a:p>
          <a:p>
            <a:pPr indent="0" lvl="0" marL="0" rtl="0" algn="l">
              <a:spcBef>
                <a:spcPts val="1200"/>
              </a:spcBef>
              <a:spcAft>
                <a:spcPts val="0"/>
              </a:spcAft>
              <a:buNone/>
            </a:pPr>
            <a:r>
              <a:rPr lang="en">
                <a:solidFill>
                  <a:schemeClr val="dk1"/>
                </a:solidFill>
              </a:rPr>
              <a:t>Cache returns the</a:t>
            </a:r>
            <a:endParaRPr>
              <a:solidFill>
                <a:schemeClr val="dk1"/>
              </a:solidFill>
            </a:endParaRPr>
          </a:p>
          <a:p>
            <a:pPr indent="0" lvl="0" marL="0" rtl="0" algn="l">
              <a:spcBef>
                <a:spcPts val="0"/>
              </a:spcBef>
              <a:spcAft>
                <a:spcPts val="0"/>
              </a:spcAft>
              <a:buNone/>
            </a:pPr>
            <a:r>
              <a:rPr lang="en">
                <a:solidFill>
                  <a:schemeClr val="dk1"/>
                </a:solidFill>
              </a:rPr>
              <a:t>same value</a:t>
            </a:r>
            <a:endParaRPr>
              <a:solidFill>
                <a:schemeClr val="dk1"/>
              </a:solidFill>
            </a:endParaRPr>
          </a:p>
          <a:p>
            <a:pPr indent="0" lvl="0" marL="0" rtl="0" algn="l">
              <a:spcBef>
                <a:spcPts val="0"/>
              </a:spcBef>
              <a:spcAft>
                <a:spcPts val="0"/>
              </a:spcAft>
              <a:buNone/>
            </a:pPr>
            <a:r>
              <a:rPr lang="en">
                <a:solidFill>
                  <a:schemeClr val="dk1"/>
                </a:solidFill>
              </a:rPr>
              <a:t>as Store.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 invalidation</a:t>
            </a:r>
            <a:endParaRPr>
              <a:solidFill>
                <a:schemeClr val="dk1"/>
              </a:solidFill>
            </a:endParaRPr>
          </a:p>
          <a:p>
            <a:pPr indent="0" lvl="0" marL="0" rtl="0" algn="l">
              <a:spcBef>
                <a:spcPts val="0"/>
              </a:spcBef>
              <a:spcAft>
                <a:spcPts val="0"/>
              </a:spcAft>
              <a:buNone/>
            </a:pPr>
            <a:r>
              <a:rPr lang="en">
                <a:solidFill>
                  <a:schemeClr val="dk1"/>
                </a:solidFill>
              </a:rPr>
              <a:t>works correctly.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No stale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is returned.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These invariants literally </a:t>
            </a:r>
            <a:r>
              <a:rPr b="1" lang="en">
                <a:solidFill>
                  <a:schemeClr val="dk1"/>
                </a:solidFill>
              </a:rPr>
              <a:t>didn't exist before</a:t>
            </a:r>
            <a:r>
              <a:rPr lang="en">
                <a:solidFill>
                  <a:schemeClr val="dk1"/>
                </a:solidFill>
              </a:rPr>
              <a:t> because there was no 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a:t>
            </a:r>
            <a:endParaRPr>
              <a:solidFill>
                <a:schemeClr val="dk1"/>
              </a:solidFill>
            </a:endParaRPr>
          </a:p>
          <a:p>
            <a:pPr indent="0" lvl="0" marL="0" rtl="0" algn="l">
              <a:spcBef>
                <a:spcPts val="1200"/>
              </a:spcBef>
              <a:spcAft>
                <a:spcPts val="0"/>
              </a:spcAft>
              <a:buNone/>
            </a:pPr>
            <a:r>
              <a:rPr lang="en">
                <a:solidFill>
                  <a:schemeClr val="dk1"/>
                </a:solidFill>
              </a:rPr>
              <a:t>Architecture changes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Behavioral invariants evolve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means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architecture introduces new behaviors that now need to be guaranteed.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Then</a:t>
            </a:r>
            <a:endParaRPr b="1" sz="23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"Property tests evolve"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ask</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How do we check these new promises?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Before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Maybe you only had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TestStoreCorrectness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you need</a:t>
            </a:r>
            <a:endParaRPr>
              <a:solidFill>
                <a:schemeClr val="dk1"/>
              </a:solidFill>
            </a:endParaRPr>
          </a:p>
          <a:p>
            <a:pPr indent="0" lvl="0" marL="0" rtl="0" algn="l">
              <a:spcBef>
                <a:spcPts val="1200"/>
              </a:spcBef>
              <a:spcAft>
                <a:spcPts val="0"/>
              </a:spcAft>
              <a:buNone/>
            </a:pPr>
            <a:r>
              <a:rPr lang="en">
                <a:solidFill>
                  <a:schemeClr val="dk1"/>
                </a:solidFill>
              </a:rPr>
              <a:t>TestStoreCorrectness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TestCacheConsistency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TestCacheInvalidation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property tests changed because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promises changed.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Finally</a:t>
            </a:r>
            <a:endParaRPr b="1" sz="23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"CI proves those invariants still hold"</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what your manager clarified.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ARCHON is </a:t>
            </a:r>
            <a:r>
              <a:rPr b="1" lang="en">
                <a:solidFill>
                  <a:schemeClr val="dk1"/>
                </a:solidFill>
              </a:rPr>
              <a:t>not</a:t>
            </a:r>
            <a:r>
              <a:rPr lang="en">
                <a:solidFill>
                  <a:schemeClr val="dk1"/>
                </a:solidFill>
              </a:rPr>
              <a:t> responsible for running tests.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CI already does that.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Imagine GitHub Actions runs</a:t>
            </a:r>
            <a:endParaRPr>
              <a:solidFill>
                <a:schemeClr val="dk1"/>
              </a:solidFill>
            </a:endParaRPr>
          </a:p>
          <a:p>
            <a:pPr indent="0" lvl="0" marL="0" rtl="0" algn="l">
              <a:spcBef>
                <a:spcPts val="1200"/>
              </a:spcBef>
              <a:spcAft>
                <a:spcPts val="0"/>
              </a:spcAft>
              <a:buNone/>
            </a:pPr>
            <a:r>
              <a:rPr lang="en">
                <a:solidFill>
                  <a:schemeClr val="dk1"/>
                </a:solidFill>
              </a:rPr>
              <a:t>✓ TestStoreCorrectness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TestCacheConsistency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TestCacheInvalidation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All ARCHON says is</a:t>
            </a:r>
            <a:endParaRPr>
              <a:solidFill>
                <a:schemeClr val="dk1"/>
              </a:solidFill>
            </a:endParaRPr>
          </a:p>
          <a:p>
            <a:pPr indent="0" lvl="0" marL="0" rtl="0" algn="l">
              <a:spcBef>
                <a:spcPts val="1200"/>
              </a:spcBef>
              <a:spcAft>
                <a:spcPts val="0"/>
              </a:spcAft>
              <a:buNone/>
            </a:pPr>
            <a:r>
              <a:rPr lang="en">
                <a:solidFill>
                  <a:schemeClr val="dk1"/>
                </a:solidFill>
              </a:rPr>
              <a:t>The architecture introduced</a:t>
            </a:r>
            <a:endParaRPr>
              <a:solidFill>
                <a:schemeClr val="dk1"/>
              </a:solidFill>
            </a:endParaRPr>
          </a:p>
          <a:p>
            <a:pPr indent="0" lvl="0" marL="0" rtl="0" algn="l">
              <a:spcBef>
                <a:spcPts val="0"/>
              </a:spcBef>
              <a:spcAft>
                <a:spcPts val="0"/>
              </a:spcAft>
              <a:buNone/>
            </a:pPr>
            <a:r>
              <a:rPr lang="en">
                <a:solidFill>
                  <a:schemeClr val="dk1"/>
                </a:solidFill>
              </a:rPr>
              <a:t>these new promises.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Here is the evidence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that those promises still hold.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The whole story</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today</a:t>
            </a:r>
            <a:endParaRPr>
              <a:solidFill>
                <a:schemeClr val="dk1"/>
              </a:solidFill>
            </a:endParaRPr>
          </a:p>
          <a:p>
            <a:pPr indent="0" lvl="0" marL="0" rtl="0" algn="l">
              <a:spcBef>
                <a:spcPts val="1200"/>
              </a:spcBef>
              <a:spcAft>
                <a:spcPts val="0"/>
              </a:spcAft>
              <a:buNone/>
            </a:pPr>
            <a:r>
              <a:rPr lang="en">
                <a:solidFill>
                  <a:schemeClr val="dk1"/>
                </a:solidFill>
              </a:rPr>
              <a:t>Architecture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Store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Current promise</a:t>
            </a:r>
            <a:endParaRPr>
              <a:solidFill>
                <a:schemeClr val="dk1"/>
              </a:solidFill>
            </a:endParaRPr>
          </a:p>
          <a:p>
            <a:pPr indent="0" lvl="0" marL="0" rtl="0" algn="l">
              <a:spcBef>
                <a:spcPts val="1200"/>
              </a:spcBef>
              <a:spcAft>
                <a:spcPts val="0"/>
              </a:spcAft>
              <a:buNone/>
            </a:pPr>
            <a:r>
              <a:rPr lang="en">
                <a:solidFill>
                  <a:schemeClr val="dk1"/>
                </a:solidFill>
              </a:rPr>
              <a:t>Store always returns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correct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TestStoreCorrectness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developer opens a PR.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They add</a:t>
            </a:r>
            <a:endParaRPr>
              <a:solidFill>
                <a:schemeClr val="dk1"/>
              </a:solidFill>
            </a:endParaRPr>
          </a:p>
          <a:p>
            <a:pPr indent="0" lvl="0" marL="0" rtl="0" algn="l">
              <a:spcBef>
                <a:spcPts val="1200"/>
              </a:spcBef>
              <a:spcAft>
                <a:spcPts val="0"/>
              </a:spcAft>
              <a:buNone/>
            </a:pPr>
            <a:r>
              <a:rPr lang="en">
                <a:solidFill>
                  <a:schemeClr val="dk1"/>
                </a:solidFill>
              </a:rPr>
              <a:t>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Store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ARCHON computes</a:t>
            </a:r>
            <a:endParaRPr>
              <a:solidFill>
                <a:schemeClr val="dk1"/>
              </a:solidFill>
            </a:endParaRPr>
          </a:p>
          <a:p>
            <a:pPr indent="0" lvl="0" marL="0" rtl="0" algn="l">
              <a:spcBef>
                <a:spcPts val="1200"/>
              </a:spcBef>
              <a:spcAft>
                <a:spcPts val="0"/>
              </a:spcAft>
              <a:buNone/>
            </a:pPr>
            <a:r>
              <a:rPr lang="en">
                <a:solidFill>
                  <a:schemeClr val="dk1"/>
                </a:solidFill>
              </a:rPr>
              <a:t>Architectural delta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it reasons</a:t>
            </a:r>
            <a:endParaRPr>
              <a:solidFill>
                <a:schemeClr val="dk1"/>
              </a:solidFill>
            </a:endParaRPr>
          </a:p>
          <a:p>
            <a:pPr indent="0" lvl="0" marL="0" rtl="0" algn="l">
              <a:spcBef>
                <a:spcPts val="1200"/>
              </a:spcBef>
              <a:spcAft>
                <a:spcPts val="0"/>
              </a:spcAft>
              <a:buNone/>
            </a:pPr>
            <a:r>
              <a:rPr lang="en">
                <a:solidFill>
                  <a:schemeClr val="dk1"/>
                </a:solidFill>
              </a:rPr>
              <a:t>If there is now a cache...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system has a new promise.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cache must behave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correctly.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now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invariant becomes</a:t>
            </a:r>
            <a:endParaRPr>
              <a:solidFill>
                <a:schemeClr val="dk1"/>
              </a:solidFill>
            </a:endParaRPr>
          </a:p>
          <a:p>
            <a:pPr indent="0" lvl="0" marL="0" rtl="0" algn="l">
              <a:spcBef>
                <a:spcPts val="1200"/>
              </a:spcBef>
              <a:spcAft>
                <a:spcPts val="0"/>
              </a:spcAft>
              <a:buNone/>
            </a:pPr>
            <a:r>
              <a:rPr lang="en">
                <a:solidFill>
                  <a:schemeClr val="dk1"/>
                </a:solidFill>
              </a:rPr>
              <a:t>Store returns correct data.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 returns</a:t>
            </a:r>
            <a:endParaRPr>
              <a:solidFill>
                <a:schemeClr val="dk1"/>
              </a:solidFill>
            </a:endParaRPr>
          </a:p>
          <a:p>
            <a:pPr indent="0" lvl="0" marL="0" rtl="0" algn="l">
              <a:spcBef>
                <a:spcPts val="0"/>
              </a:spcBef>
              <a:spcAft>
                <a:spcPts val="0"/>
              </a:spcAft>
              <a:buNone/>
            </a:pPr>
            <a:r>
              <a:rPr lang="en">
                <a:solidFill>
                  <a:schemeClr val="dk1"/>
                </a:solidFill>
              </a:rPr>
              <a:t>the same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Store would.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property tests become</a:t>
            </a:r>
            <a:endParaRPr>
              <a:solidFill>
                <a:schemeClr val="dk1"/>
              </a:solidFill>
            </a:endParaRPr>
          </a:p>
          <a:p>
            <a:pPr indent="0" lvl="0" marL="0" rtl="0" algn="l">
              <a:spcBef>
                <a:spcPts val="1200"/>
              </a:spcBef>
              <a:spcAft>
                <a:spcPts val="0"/>
              </a:spcAft>
              <a:buNone/>
            </a:pPr>
            <a:r>
              <a:rPr lang="en">
                <a:solidFill>
                  <a:schemeClr val="dk1"/>
                </a:solidFill>
              </a:rPr>
              <a:t>TestStoreCorrectness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TestCacheConsistency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CI runs</a:t>
            </a:r>
            <a:endParaRPr>
              <a:solidFill>
                <a:schemeClr val="dk1"/>
              </a:solidFill>
            </a:endParaRPr>
          </a:p>
          <a:p>
            <a:pPr indent="0" lvl="0" marL="0" rtl="0" algn="l">
              <a:spcBef>
                <a:spcPts val="1200"/>
              </a:spcBef>
              <a:spcAft>
                <a:spcPts val="0"/>
              </a:spcAft>
              <a:buNone/>
            </a:pPr>
            <a:r>
              <a:rPr lang="en">
                <a:solidFill>
                  <a:schemeClr val="dk1"/>
                </a:solidFill>
              </a:rPr>
              <a:t>✓ TestStoreCorrectness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TestCacheConsistency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ARCHON can report</a:t>
            </a:r>
            <a:endParaRPr>
              <a:solidFill>
                <a:schemeClr val="dk1"/>
              </a:solidFill>
            </a:endParaRPr>
          </a:p>
          <a:p>
            <a:pPr indent="0" lvl="0" marL="0" rtl="0" algn="l">
              <a:spcBef>
                <a:spcPts val="1200"/>
              </a:spcBef>
              <a:spcAft>
                <a:spcPts val="0"/>
              </a:spcAft>
              <a:buNone/>
            </a:pPr>
            <a:r>
              <a:rPr lang="en">
                <a:solidFill>
                  <a:schemeClr val="dk1"/>
                </a:solidFill>
              </a:rPr>
              <a:t>Architecture changed.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New invariant introduced.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Evidence exists.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Evidence passes.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Why your manager said "invariants evolve"</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sentence that confused you:</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"invariants should evolve as the architecture evolves."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 </a:t>
            </a:r>
            <a:r>
              <a:rPr b="1" lang="en">
                <a:solidFill>
                  <a:schemeClr val="dk1"/>
                </a:solidFill>
              </a:rPr>
              <a:t>didn't</a:t>
            </a:r>
            <a:r>
              <a:rPr lang="en">
                <a:solidFill>
                  <a:schemeClr val="dk1"/>
                </a:solidFill>
              </a:rPr>
              <a:t> mean</a:t>
            </a:r>
            <a:endParaRPr>
              <a:solidFill>
                <a:schemeClr val="dk1"/>
              </a:solidFill>
            </a:endParaRPr>
          </a:p>
          <a:p>
            <a:pPr indent="0" lvl="0" marL="0" rtl="0" algn="l">
              <a:spcBef>
                <a:spcPts val="1200"/>
              </a:spcBef>
              <a:spcAft>
                <a:spcPts val="0"/>
              </a:spcAft>
              <a:buNone/>
            </a:pPr>
            <a:r>
              <a:rPr lang="en">
                <a:solidFill>
                  <a:schemeClr val="dk1"/>
                </a:solidFill>
              </a:rPr>
              <a:t>Every architecture change</a:t>
            </a:r>
            <a:endParaRPr>
              <a:solidFill>
                <a:schemeClr val="dk1"/>
              </a:solidFill>
            </a:endParaRPr>
          </a:p>
          <a:p>
            <a:pPr indent="0" lvl="0" marL="0" rtl="0" algn="l">
              <a:spcBef>
                <a:spcPts val="0"/>
              </a:spcBef>
              <a:spcAft>
                <a:spcPts val="0"/>
              </a:spcAft>
              <a:buNone/>
            </a:pPr>
            <a:r>
              <a:rPr lang="en">
                <a:solidFill>
                  <a:schemeClr val="dk1"/>
                </a:solidFill>
              </a:rPr>
              <a:t>automatically generates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property tests.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 meant</a:t>
            </a:r>
            <a:endParaRPr>
              <a:solidFill>
                <a:schemeClr val="dk1"/>
              </a:solidFill>
            </a:endParaRPr>
          </a:p>
          <a:p>
            <a:pPr indent="0" lvl="0" marL="0" rtl="0" algn="l">
              <a:spcBef>
                <a:spcPts val="1200"/>
              </a:spcBef>
              <a:spcAft>
                <a:spcPts val="0"/>
              </a:spcAft>
              <a:buNone/>
            </a:pPr>
            <a:r>
              <a:rPr lang="en">
                <a:solidFill>
                  <a:schemeClr val="dk1"/>
                </a:solidFill>
              </a:rPr>
              <a:t>Every architecture change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may introduce</a:t>
            </a:r>
            <a:endParaRPr>
              <a:solidFill>
                <a:schemeClr val="dk1"/>
              </a:solidFill>
            </a:endParaRPr>
          </a:p>
          <a:p>
            <a:pPr indent="0" lvl="0" marL="0" rtl="0" algn="l">
              <a:spcBef>
                <a:spcPts val="0"/>
              </a:spcBef>
              <a:spcAft>
                <a:spcPts val="0"/>
              </a:spcAft>
              <a:buNone/>
            </a:pPr>
            <a:r>
              <a:rPr lang="en">
                <a:solidFill>
                  <a:schemeClr val="dk1"/>
                </a:solidFill>
              </a:rPr>
              <a:t>new promises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those promises should be</a:t>
            </a:r>
            <a:endParaRPr>
              <a:solidFill>
                <a:schemeClr val="dk1"/>
              </a:solidFill>
            </a:endParaRPr>
          </a:p>
          <a:p>
            <a:pPr indent="0" lvl="0" marL="0" rtl="0" algn="l">
              <a:spcBef>
                <a:spcPts val="0"/>
              </a:spcBef>
              <a:spcAft>
                <a:spcPts val="0"/>
              </a:spcAft>
              <a:buNone/>
            </a:pPr>
            <a:r>
              <a:rPr lang="en">
                <a:solidFill>
                  <a:schemeClr val="dk1"/>
                </a:solidFill>
              </a:rPr>
              <a:t>captured as invariants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those invariants should be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enforced by property tests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invariant</a:t>
            </a:r>
            <a:r>
              <a:rPr lang="en">
                <a:solidFill>
                  <a:schemeClr val="dk1"/>
                </a:solidFill>
              </a:rPr>
              <a:t> is the promise.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property test</a:t>
            </a:r>
            <a:r>
              <a:rPr lang="en">
                <a:solidFill>
                  <a:schemeClr val="dk1"/>
                </a:solidFill>
              </a:rPr>
              <a:t> is the executable check that the promise still holds.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I think there is still one unanswered research question</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Even after your manager's reply, there is one major design question that hasn't been answered:</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
                <a:solidFill>
                  <a:schemeClr val="dk1"/>
                </a:solidFill>
              </a:rPr>
              <a:t>Who decides what the new invariants are?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 when ARCHON detects: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who writes:</a:t>
            </a:r>
            <a:endParaRPr>
              <a:solidFill>
                <a:schemeClr val="dk1"/>
              </a:solidFill>
            </a:endParaRPr>
          </a:p>
          <a:p>
            <a:pPr indent="0" lvl="0" marL="0" rtl="0" algn="l">
              <a:spcBef>
                <a:spcPts val="1200"/>
              </a:spcBef>
              <a:spcAft>
                <a:spcPts val="0"/>
              </a:spcAft>
              <a:buNone/>
            </a:pPr>
            <a:r>
              <a:rPr lang="en">
                <a:solidFill>
                  <a:schemeClr val="dk1"/>
                </a:solidFill>
              </a:rPr>
              <a:t>Invariant: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cache must always return the same value as the store."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Possible answers include:</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The developer</a:t>
            </a:r>
            <a:r>
              <a:rPr lang="en">
                <a:solidFill>
                  <a:schemeClr val="dk1"/>
                </a:solidFill>
              </a:rPr>
              <a:t> (adds/updates invariants as part of the PR).</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The maintainer/reviewer</a:t>
            </a:r>
            <a:r>
              <a:rPr lang="en">
                <a:solidFill>
                  <a:schemeClr val="dk1"/>
                </a:solidFill>
              </a:rPr>
              <a:t> (reviews and approves invariant changes).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ARCHON/AI suggests</a:t>
            </a:r>
            <a:r>
              <a:rPr lang="en">
                <a:solidFill>
                  <a:schemeClr val="dk1"/>
                </a:solidFill>
              </a:rPr>
              <a:t> likely invariants based on the architectural change, and a human confirms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Your manager explained </a:t>
            </a:r>
            <a:r>
              <a:rPr b="1" lang="en">
                <a:solidFill>
                  <a:schemeClr val="dk1"/>
                </a:solidFill>
              </a:rPr>
              <a:t>what</a:t>
            </a:r>
            <a:r>
              <a:rPr lang="en">
                <a:solidFill>
                  <a:schemeClr val="dk1"/>
                </a:solidFill>
              </a:rPr>
              <a:t> should happen (invariants evolve with architecture), but not yet </a:t>
            </a:r>
            <a:r>
              <a:rPr b="1" lang="en">
                <a:solidFill>
                  <a:schemeClr val="dk1"/>
                </a:solidFill>
              </a:rPr>
              <a:t>who</a:t>
            </a:r>
            <a:r>
              <a:rPr lang="en">
                <a:solidFill>
                  <a:schemeClr val="dk1"/>
                </a:solidFill>
              </a:rPr>
              <a:t> is responsible for evolving them. That's a design decision you'll likely want to discuss before implementing this part.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57194a2a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f57194a2a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1"/>
              </a:buClr>
              <a:buSzPts val="1100"/>
              <a:buFont typeface="Arial"/>
              <a:buNone/>
            </a:pPr>
            <a:r>
              <a:rPr b="1" lang="en" sz="2300">
                <a:solidFill>
                  <a:schemeClr val="dk1"/>
                </a:solidFill>
              </a:rPr>
              <a:t>So where does ARCHON fit?</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Suppose someone adds a cache.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Without ARCHON:</a:t>
            </a:r>
            <a:endParaRPr>
              <a:solidFill>
                <a:schemeClr val="dk1"/>
              </a:solidFill>
            </a:endParaRPr>
          </a:p>
          <a:p>
            <a:pPr indent="0" lvl="0" marL="0" rtl="0" algn="l">
              <a:spcBef>
                <a:spcPts val="1200"/>
              </a:spcBef>
              <a:spcAft>
                <a:spcPts val="0"/>
              </a:spcAft>
              <a:buNone/>
            </a:pPr>
            <a:r>
              <a:rPr lang="en">
                <a:solidFill>
                  <a:schemeClr val="dk1"/>
                </a:solidFill>
              </a:rPr>
              <a:t>Developer pushes code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GitHub</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Run tests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PASS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 ARCHON:</a:t>
            </a:r>
            <a:endParaRPr>
              <a:solidFill>
                <a:schemeClr val="dk1"/>
              </a:solidFill>
            </a:endParaRPr>
          </a:p>
          <a:p>
            <a:pPr indent="0" lvl="0" marL="0" rtl="0" algn="l">
              <a:spcBef>
                <a:spcPts val="1200"/>
              </a:spcBef>
              <a:spcAft>
                <a:spcPts val="0"/>
              </a:spcAft>
              <a:buNone/>
            </a:pPr>
            <a:r>
              <a:rPr lang="en">
                <a:solidFill>
                  <a:schemeClr val="dk1"/>
                </a:solidFill>
              </a:rPr>
              <a:t>Developer pushes code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ARCHON computes architectural delta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 added"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"Cache consistency invariant introduced"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GitHub runs all property tests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PASS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Reviewer sees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Architecture changed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Evidence passed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ARCHON itself isn't running the tests.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GitHub (or another CI system like Jenkins or GitLab CI)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ARCHON is interpreting the architecture and helping explain what changed.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f57194a2a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f57194a2a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Edn to end process</a:t>
            </a:r>
            <a:endParaRPr/>
          </a:p>
          <a:p>
            <a:pPr indent="0" lvl="0" marL="0" rtl="0" algn="l">
              <a:spcBef>
                <a:spcPts val="0"/>
              </a:spcBef>
              <a:spcAft>
                <a:spcPts val="0"/>
              </a:spcAft>
              <a:buClr>
                <a:schemeClr val="dk1"/>
              </a:buClr>
              <a:buSzPts val="1100"/>
              <a:buFont typeface="Arial"/>
              <a:buNone/>
            </a:pPr>
            <a:r>
              <a:rPr lang="en"/>
              <a:t>Developer opens PR</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ARCHON builds before/after graphs</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ARCHON computes architectural delta</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Did interface membership or a boundary change?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Check whether relevant invariant definitions/tests</a:t>
            </a:r>
            <a:endParaRPr/>
          </a:p>
          <a:p>
            <a:pPr indent="0" lvl="0" marL="0" rtl="0" algn="l">
              <a:spcBef>
                <a:spcPts val="0"/>
              </a:spcBef>
              <a:spcAft>
                <a:spcPts val="0"/>
              </a:spcAft>
              <a:buClr>
                <a:schemeClr val="dk1"/>
              </a:buClr>
              <a:buSzPts val="1100"/>
              <a:buFont typeface="Arial"/>
              <a:buNone/>
            </a:pPr>
            <a:r>
              <a:rPr lang="en"/>
              <a:t>were added, modified, or removed in the same PR</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Flag missing contract-test updates</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CI runs all unit, integration, and property tests</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Reviewer sees:</a:t>
            </a:r>
            <a:endParaRPr/>
          </a:p>
          <a:p>
            <a:pPr indent="0" lvl="0" marL="0" rtl="0" algn="l">
              <a:spcBef>
                <a:spcPts val="0"/>
              </a:spcBef>
              <a:spcAft>
                <a:spcPts val="0"/>
              </a:spcAft>
              <a:buClr>
                <a:schemeClr val="dk1"/>
              </a:buClr>
              <a:buSzPts val="1100"/>
              <a:buFont typeface="Arial"/>
              <a:buNone/>
            </a:pPr>
            <a:r>
              <a:rPr lang="en"/>
              <a:t>- architecture delta</a:t>
            </a:r>
            <a:endParaRPr/>
          </a:p>
          <a:p>
            <a:pPr indent="0" lvl="0" marL="0" rtl="0" algn="l">
              <a:spcBef>
                <a:spcPts val="0"/>
              </a:spcBef>
              <a:spcAft>
                <a:spcPts val="0"/>
              </a:spcAft>
              <a:buClr>
                <a:schemeClr val="dk1"/>
              </a:buClr>
              <a:buSzPts val="1100"/>
              <a:buFont typeface="Arial"/>
              <a:buNone/>
            </a:pPr>
            <a:r>
              <a:rPr lang="en"/>
              <a:t>- invariant delta</a:t>
            </a:r>
            <a:endParaRPr/>
          </a:p>
          <a:p>
            <a:pPr indent="0" lvl="0" marL="0" rtl="0" algn="l">
              <a:spcBef>
                <a:spcPts val="0"/>
              </a:spcBef>
              <a:spcAft>
                <a:spcPts val="0"/>
              </a:spcAft>
              <a:buClr>
                <a:schemeClr val="dk1"/>
              </a:buClr>
              <a:buSzPts val="1100"/>
              <a:buFont typeface="Arial"/>
              <a:buNone/>
            </a:pPr>
            <a:r>
              <a:rPr lang="en"/>
              <a:t>- missing coverage obligations</a:t>
            </a:r>
            <a:endParaRPr/>
          </a:p>
          <a:p>
            <a:pPr indent="0" lvl="0" marL="0" rtl="0" algn="l">
              <a:spcBef>
                <a:spcPts val="0"/>
              </a:spcBef>
              <a:spcAft>
                <a:spcPts val="0"/>
              </a:spcAft>
              <a:buClr>
                <a:schemeClr val="dk1"/>
              </a:buClr>
              <a:buSzPts val="1100"/>
              <a:buFont typeface="Arial"/>
              <a:buNone/>
            </a:pPr>
            <a:r>
              <a:rPr lang="en"/>
              <a:t>- CI results</a:t>
            </a:r>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f57194a2a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f57194a2a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57194a2a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f57194a2a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Archon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a:t>Turning code changes into architectural insights</a:t>
            </a:r>
            <a:endParaRPr i="1"/>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code repository contains the complete evolution of a software system -&gt; its source code, commits, branches, and pull requests.</a:t>
            </a:r>
            <a:endParaRPr/>
          </a:p>
          <a:p>
            <a:pPr indent="0" lvl="0" marL="0" rtl="0" algn="l">
              <a:spcBef>
                <a:spcPts val="1200"/>
              </a:spcBef>
              <a:spcAft>
                <a:spcPts val="1200"/>
              </a:spcAft>
              <a:buNone/>
            </a:pPr>
            <a:r>
              <a:t/>
            </a:r>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code repository contains the complete evolution of a software system—its source code, commits, branches, and pull requests.</a:t>
            </a:r>
            <a:endParaRPr/>
          </a:p>
          <a:p>
            <a:pPr indent="-342900" lvl="0" marL="457200" rtl="0" algn="l">
              <a:spcBef>
                <a:spcPts val="0"/>
              </a:spcBef>
              <a:spcAft>
                <a:spcPts val="0"/>
              </a:spcAft>
              <a:buSzPts val="1800"/>
              <a:buChar char="●"/>
            </a:pPr>
            <a:r>
              <a:rPr lang="en"/>
              <a:t>Pull requests are the primary mechanism for reviewing and merging changes.</a:t>
            </a:r>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code repository contains the complete evolution of a software system—its source code, commits, branches, and pull requests.</a:t>
            </a:r>
            <a:endParaRPr/>
          </a:p>
          <a:p>
            <a:pPr indent="-342900" lvl="0" marL="457200" rtl="0" algn="l">
              <a:spcBef>
                <a:spcPts val="0"/>
              </a:spcBef>
              <a:spcAft>
                <a:spcPts val="0"/>
              </a:spcAft>
              <a:buSzPts val="1800"/>
              <a:buChar char="●"/>
            </a:pPr>
            <a:r>
              <a:rPr lang="en"/>
              <a:t>Pull requests are the primary mechanism for reviewing and merging changes.</a:t>
            </a:r>
            <a:endParaRPr/>
          </a:p>
          <a:p>
            <a:pPr indent="-342900" lvl="0" marL="457200" rtl="0" algn="l">
              <a:spcBef>
                <a:spcPts val="0"/>
              </a:spcBef>
              <a:spcAft>
                <a:spcPts val="0"/>
              </a:spcAft>
              <a:buSzPts val="1800"/>
              <a:buChar char="●"/>
            </a:pPr>
            <a:r>
              <a:rPr lang="en"/>
              <a:t>Today, reviewers inspect textual diffs: lines of code added, removed, or modified.</a:t>
            </a:r>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code repository contains the complete evolution of a software system—its source code, commits, branches, and pull requests.</a:t>
            </a:r>
            <a:endParaRPr/>
          </a:p>
          <a:p>
            <a:pPr indent="-342900" lvl="0" marL="457200" rtl="0" algn="l">
              <a:spcBef>
                <a:spcPts val="0"/>
              </a:spcBef>
              <a:spcAft>
                <a:spcPts val="0"/>
              </a:spcAft>
              <a:buSzPts val="1800"/>
              <a:buChar char="●"/>
            </a:pPr>
            <a:r>
              <a:rPr lang="en"/>
              <a:t>Pull requests are the primary mechanism for reviewing and merging changes.</a:t>
            </a:r>
            <a:endParaRPr/>
          </a:p>
          <a:p>
            <a:pPr indent="-342900" lvl="0" marL="457200" rtl="0" algn="l">
              <a:spcBef>
                <a:spcPts val="0"/>
              </a:spcBef>
              <a:spcAft>
                <a:spcPts val="0"/>
              </a:spcAft>
              <a:buSzPts val="1800"/>
              <a:buChar char="●"/>
            </a:pPr>
            <a:r>
              <a:rPr lang="en"/>
              <a:t>Today, reviewers inspect textual diffs: lines of code added, removed, or modified.</a:t>
            </a:r>
            <a:endParaRPr/>
          </a:p>
          <a:p>
            <a:pPr indent="-342900" lvl="0" marL="457200" rtl="0" algn="l">
              <a:spcBef>
                <a:spcPts val="0"/>
              </a:spcBef>
              <a:spcAft>
                <a:spcPts val="0"/>
              </a:spcAft>
              <a:buSzPts val="1800"/>
              <a:buChar char="●"/>
            </a:pPr>
            <a:r>
              <a:rPr lang="en"/>
              <a:t>However, developers also care about the system's architecture: module boundaries, dependencies, interfaces, and the overall design.</a:t>
            </a:r>
            <a:endParaRPr/>
          </a:p>
        </p:txBody>
      </p:sp>
      <p:sp>
        <p:nvSpPr>
          <p:cNvPr id="84" name="Google Shape;8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code repository contains the complete evolution of a software system—its source code, commits, branches, and pull requests.</a:t>
            </a:r>
            <a:endParaRPr/>
          </a:p>
          <a:p>
            <a:pPr indent="-342900" lvl="0" marL="457200" rtl="0" algn="l">
              <a:spcBef>
                <a:spcPts val="0"/>
              </a:spcBef>
              <a:spcAft>
                <a:spcPts val="0"/>
              </a:spcAft>
              <a:buSzPts val="1800"/>
              <a:buChar char="●"/>
            </a:pPr>
            <a:r>
              <a:rPr lang="en"/>
              <a:t>Pull requests are the primary mechanism for reviewing and merging changes.</a:t>
            </a:r>
            <a:endParaRPr/>
          </a:p>
          <a:p>
            <a:pPr indent="-342900" lvl="0" marL="457200" rtl="0" algn="l">
              <a:spcBef>
                <a:spcPts val="0"/>
              </a:spcBef>
              <a:spcAft>
                <a:spcPts val="0"/>
              </a:spcAft>
              <a:buSzPts val="1800"/>
              <a:buChar char="●"/>
            </a:pPr>
            <a:r>
              <a:rPr lang="en"/>
              <a:t>Today, reviewers inspect textual diffs: lines of code added, removed, or modified.</a:t>
            </a:r>
            <a:endParaRPr/>
          </a:p>
          <a:p>
            <a:pPr indent="-342900" lvl="0" marL="457200" rtl="0" algn="l">
              <a:spcBef>
                <a:spcPts val="0"/>
              </a:spcBef>
              <a:spcAft>
                <a:spcPts val="0"/>
              </a:spcAft>
              <a:buSzPts val="1800"/>
              <a:buChar char="●"/>
            </a:pPr>
            <a:r>
              <a:rPr lang="en"/>
              <a:t>However, developers also care about the system's architecture: module boundaries, dependencies, interfaces, and the overall design.</a:t>
            </a:r>
            <a:endParaRPr/>
          </a:p>
          <a:p>
            <a:pPr indent="-342900" lvl="0" marL="457200" rtl="0" algn="l">
              <a:spcBef>
                <a:spcPts val="0"/>
              </a:spcBef>
              <a:spcAft>
                <a:spcPts val="0"/>
              </a:spcAft>
              <a:buSzPts val="1800"/>
              <a:buChar char="●"/>
            </a:pPr>
            <a:r>
              <a:rPr lang="en"/>
              <a:t>That architectural view is typically maintained as hand-drawn diagrams or documentation, which quickly becomes outdated as the code evolves.</a:t>
            </a:r>
            <a:endParaRPr/>
          </a:p>
        </p:txBody>
      </p:sp>
      <p:sp>
        <p:nvSpPr>
          <p:cNvPr id="91" name="Google Shape;9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ARCHON bridges this gap by deriving an architectural graph from the codebase and computing an architectural delta for every pull request.</a:t>
            </a:r>
            <a:endParaRPr/>
          </a:p>
          <a:p>
            <a:pPr indent="-342900" lvl="0" marL="457200" rtl="0" algn="l">
              <a:spcBef>
                <a:spcPts val="0"/>
              </a:spcBef>
              <a:spcAft>
                <a:spcPts val="0"/>
              </a:spcAft>
              <a:buSzPts val="1800"/>
              <a:buChar char="●"/>
            </a:pPr>
            <a:r>
              <a:rPr lang="en"/>
              <a:t>Instead of reviewing only lines of code, reviewers can understand what changed in the system's design.</a:t>
            </a:r>
            <a:endParaRPr/>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it is</a:t>
            </a:r>
            <a:endParaRPr/>
          </a:p>
        </p:txBody>
      </p:sp>
      <p:sp>
        <p:nvSpPr>
          <p:cNvPr id="104" name="Google Shape;104;p20"/>
          <p:cNvSpPr txBox="1"/>
          <p:nvPr/>
        </p:nvSpPr>
        <p:spPr>
          <a:xfrm>
            <a:off x="398025" y="968200"/>
            <a:ext cx="8175900" cy="3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ARCHON represents software as a typed architectural graph and reviews changes using architectural deltas instead of textual diffs.</a:t>
            </a:r>
            <a:endParaRPr sz="1800">
              <a:solidFill>
                <a:schemeClr val="dk2"/>
              </a:solidFill>
            </a:endParaRPr>
          </a:p>
        </p:txBody>
      </p:sp>
      <p:sp>
        <p:nvSpPr>
          <p:cNvPr id="105" name="Google Shape;10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it is</a:t>
            </a:r>
            <a:endParaRPr/>
          </a:p>
        </p:txBody>
      </p:sp>
      <p:sp>
        <p:nvSpPr>
          <p:cNvPr id="111" name="Google Shape;111;p21"/>
          <p:cNvSpPr txBox="1"/>
          <p:nvPr>
            <p:ph idx="1" type="body"/>
          </p:nvPr>
        </p:nvSpPr>
        <p:spPr>
          <a:xfrm>
            <a:off x="311700" y="1710475"/>
            <a:ext cx="3690300" cy="3159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Current code review asks:</a:t>
            </a:r>
            <a:endParaRPr/>
          </a:p>
          <a:p>
            <a:pPr indent="-325755" lvl="0" marL="457200" rtl="0" algn="l">
              <a:spcBef>
                <a:spcPts val="1200"/>
              </a:spcBef>
              <a:spcAft>
                <a:spcPts val="0"/>
              </a:spcAft>
              <a:buSzPct val="100000"/>
              <a:buChar char="●"/>
            </a:pPr>
            <a:r>
              <a:rPr lang="en"/>
              <a:t>What lines changed?</a:t>
            </a:r>
            <a:endParaRPr/>
          </a:p>
          <a:p>
            <a:pPr indent="-325755" lvl="0" marL="457200" rtl="0" algn="l">
              <a:spcBef>
                <a:spcPts val="0"/>
              </a:spcBef>
              <a:spcAft>
                <a:spcPts val="0"/>
              </a:spcAft>
              <a:buSzPct val="100000"/>
              <a:buChar char="●"/>
            </a:pPr>
            <a:r>
              <a:rPr lang="en"/>
              <a:t>Which files changed?</a:t>
            </a:r>
            <a:endParaRPr/>
          </a:p>
          <a:p>
            <a:pPr indent="-325755" lvl="0" marL="457200" rtl="0" algn="l">
              <a:spcBef>
                <a:spcPts val="0"/>
              </a:spcBef>
              <a:spcAft>
                <a:spcPts val="0"/>
              </a:spcAft>
              <a:buSzPct val="100000"/>
              <a:buChar char="●"/>
            </a:pPr>
            <a:r>
              <a:rPr lang="en"/>
              <a:t>Does the code compile?</a:t>
            </a:r>
            <a:endParaRPr/>
          </a:p>
          <a:p>
            <a:pPr indent="0" lvl="0" marL="0" rtl="0" algn="l">
              <a:spcBef>
                <a:spcPts val="1200"/>
              </a:spcBef>
              <a:spcAft>
                <a:spcPts val="0"/>
              </a:spcAft>
              <a:buNone/>
            </a:pPr>
            <a:r>
              <a:rPr lang="en"/>
              <a:t>ARCHON asks:</a:t>
            </a:r>
            <a:endParaRPr/>
          </a:p>
          <a:p>
            <a:pPr indent="-325755" lvl="0" marL="457200" rtl="0" algn="l">
              <a:spcBef>
                <a:spcPts val="1200"/>
              </a:spcBef>
              <a:spcAft>
                <a:spcPts val="0"/>
              </a:spcAft>
              <a:buSzPct val="100000"/>
              <a:buChar char="●"/>
            </a:pPr>
            <a:r>
              <a:rPr lang="en"/>
              <a:t>What architectural boundaries changed?</a:t>
            </a:r>
            <a:endParaRPr/>
          </a:p>
          <a:p>
            <a:pPr indent="-325755" lvl="0" marL="457200" rtl="0" algn="l">
              <a:spcBef>
                <a:spcPts val="0"/>
              </a:spcBef>
              <a:spcAft>
                <a:spcPts val="0"/>
              </a:spcAft>
              <a:buSzPct val="100000"/>
              <a:buChar char="●"/>
            </a:pPr>
            <a:r>
              <a:rPr lang="en"/>
              <a:t>Which module dependencies changed?</a:t>
            </a:r>
            <a:endParaRPr/>
          </a:p>
          <a:p>
            <a:pPr indent="-325755" lvl="0" marL="457200" rtl="0" algn="l">
              <a:spcBef>
                <a:spcPts val="0"/>
              </a:spcBef>
              <a:spcAft>
                <a:spcPts val="0"/>
              </a:spcAft>
              <a:buSzPct val="100000"/>
              <a:buChar char="●"/>
            </a:pPr>
            <a:r>
              <a:rPr lang="en"/>
              <a:t>Which contracts changed?</a:t>
            </a:r>
            <a:endParaRPr/>
          </a:p>
          <a:p>
            <a:pPr indent="-325755" lvl="0" marL="457200" rtl="0" algn="l">
              <a:spcBef>
                <a:spcPts val="0"/>
              </a:spcBef>
              <a:spcAft>
                <a:spcPts val="0"/>
              </a:spcAft>
              <a:buSzPct val="100000"/>
              <a:buChar char="●"/>
            </a:pPr>
            <a:r>
              <a:rPr lang="en"/>
              <a:t>Is this change safe to automate?</a:t>
            </a:r>
            <a:endParaRPr/>
          </a:p>
        </p:txBody>
      </p:sp>
      <p:sp>
        <p:nvSpPr>
          <p:cNvPr id="112" name="Google Shape;112;p21"/>
          <p:cNvSpPr txBox="1"/>
          <p:nvPr/>
        </p:nvSpPr>
        <p:spPr>
          <a:xfrm>
            <a:off x="398025" y="968200"/>
            <a:ext cx="8175900" cy="3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ARCHON represents software as a typed architectural graph and reviews changes using architectural deltas instead of textual diffs.</a:t>
            </a:r>
            <a:endParaRPr sz="1800">
              <a:solidFill>
                <a:schemeClr val="dk2"/>
              </a:solidFill>
            </a:endParaRPr>
          </a:p>
        </p:txBody>
      </p:sp>
      <p:sp>
        <p:nvSpPr>
          <p:cNvPr id="113" name="Google Shape;11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it is</a:t>
            </a:r>
            <a:endParaRPr/>
          </a:p>
        </p:txBody>
      </p:sp>
      <p:sp>
        <p:nvSpPr>
          <p:cNvPr id="119" name="Google Shape;119;p22"/>
          <p:cNvSpPr txBox="1"/>
          <p:nvPr>
            <p:ph idx="1" type="body"/>
          </p:nvPr>
        </p:nvSpPr>
        <p:spPr>
          <a:xfrm>
            <a:off x="311700" y="1710475"/>
            <a:ext cx="3690300" cy="3159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Current code review asks:</a:t>
            </a:r>
            <a:endParaRPr/>
          </a:p>
          <a:p>
            <a:pPr indent="-325755" lvl="0" marL="457200" rtl="0" algn="l">
              <a:spcBef>
                <a:spcPts val="1200"/>
              </a:spcBef>
              <a:spcAft>
                <a:spcPts val="0"/>
              </a:spcAft>
              <a:buSzPct val="100000"/>
              <a:buChar char="●"/>
            </a:pPr>
            <a:r>
              <a:rPr lang="en"/>
              <a:t>What lines changed?</a:t>
            </a:r>
            <a:endParaRPr/>
          </a:p>
          <a:p>
            <a:pPr indent="-325755" lvl="0" marL="457200" rtl="0" algn="l">
              <a:spcBef>
                <a:spcPts val="0"/>
              </a:spcBef>
              <a:spcAft>
                <a:spcPts val="0"/>
              </a:spcAft>
              <a:buSzPct val="100000"/>
              <a:buChar char="●"/>
            </a:pPr>
            <a:r>
              <a:rPr lang="en"/>
              <a:t>Which files changed?</a:t>
            </a:r>
            <a:endParaRPr/>
          </a:p>
          <a:p>
            <a:pPr indent="-325755" lvl="0" marL="457200" rtl="0" algn="l">
              <a:spcBef>
                <a:spcPts val="0"/>
              </a:spcBef>
              <a:spcAft>
                <a:spcPts val="0"/>
              </a:spcAft>
              <a:buSzPct val="100000"/>
              <a:buChar char="●"/>
            </a:pPr>
            <a:r>
              <a:rPr lang="en"/>
              <a:t>Does the code compile?</a:t>
            </a:r>
            <a:endParaRPr/>
          </a:p>
          <a:p>
            <a:pPr indent="0" lvl="0" marL="0" rtl="0" algn="l">
              <a:spcBef>
                <a:spcPts val="1200"/>
              </a:spcBef>
              <a:spcAft>
                <a:spcPts val="0"/>
              </a:spcAft>
              <a:buNone/>
            </a:pPr>
            <a:r>
              <a:rPr lang="en"/>
              <a:t>ARCHON asks:</a:t>
            </a:r>
            <a:endParaRPr/>
          </a:p>
          <a:p>
            <a:pPr indent="-325755" lvl="0" marL="457200" rtl="0" algn="l">
              <a:spcBef>
                <a:spcPts val="1200"/>
              </a:spcBef>
              <a:spcAft>
                <a:spcPts val="0"/>
              </a:spcAft>
              <a:buSzPct val="100000"/>
              <a:buChar char="●"/>
            </a:pPr>
            <a:r>
              <a:rPr lang="en"/>
              <a:t>What architectural boundaries changed?</a:t>
            </a:r>
            <a:endParaRPr/>
          </a:p>
          <a:p>
            <a:pPr indent="-325755" lvl="0" marL="457200" rtl="0" algn="l">
              <a:spcBef>
                <a:spcPts val="0"/>
              </a:spcBef>
              <a:spcAft>
                <a:spcPts val="0"/>
              </a:spcAft>
              <a:buSzPct val="100000"/>
              <a:buChar char="●"/>
            </a:pPr>
            <a:r>
              <a:rPr lang="en"/>
              <a:t>Which module dependencies changed?</a:t>
            </a:r>
            <a:endParaRPr/>
          </a:p>
          <a:p>
            <a:pPr indent="-325755" lvl="0" marL="457200" rtl="0" algn="l">
              <a:spcBef>
                <a:spcPts val="0"/>
              </a:spcBef>
              <a:spcAft>
                <a:spcPts val="0"/>
              </a:spcAft>
              <a:buSzPct val="100000"/>
              <a:buChar char="●"/>
            </a:pPr>
            <a:r>
              <a:rPr lang="en"/>
              <a:t>Which contracts changed?</a:t>
            </a:r>
            <a:endParaRPr/>
          </a:p>
          <a:p>
            <a:pPr indent="-325755" lvl="0" marL="457200" rtl="0" algn="l">
              <a:spcBef>
                <a:spcPts val="0"/>
              </a:spcBef>
              <a:spcAft>
                <a:spcPts val="0"/>
              </a:spcAft>
              <a:buSzPct val="100000"/>
              <a:buChar char="●"/>
            </a:pPr>
            <a:r>
              <a:rPr lang="en"/>
              <a:t>Is this change safe to automate?</a:t>
            </a:r>
            <a:endParaRPr/>
          </a:p>
        </p:txBody>
      </p:sp>
      <p:sp>
        <p:nvSpPr>
          <p:cNvPr id="120" name="Google Shape;120;p22"/>
          <p:cNvSpPr txBox="1"/>
          <p:nvPr/>
        </p:nvSpPr>
        <p:spPr>
          <a:xfrm>
            <a:off x="398025" y="968200"/>
            <a:ext cx="8175900" cy="3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ARCHON represents software as a typed architectural graph and reviews changes using architectural deltas instead of textual diffs.</a:t>
            </a:r>
            <a:endParaRPr sz="1800">
              <a:solidFill>
                <a:schemeClr val="dk2"/>
              </a:solidFill>
            </a:endParaRPr>
          </a:p>
        </p:txBody>
      </p:sp>
      <p:sp>
        <p:nvSpPr>
          <p:cNvPr id="121" name="Google Shape;121;p22"/>
          <p:cNvSpPr txBox="1"/>
          <p:nvPr>
            <p:ph idx="1" type="body"/>
          </p:nvPr>
        </p:nvSpPr>
        <p:spPr>
          <a:xfrm>
            <a:off x="4238500" y="1710475"/>
            <a:ext cx="47784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a:t>Code</a:t>
            </a:r>
            <a:endParaRPr sz="1600"/>
          </a:p>
          <a:p>
            <a:pPr indent="0" lvl="0" marL="0" rtl="0" algn="l">
              <a:lnSpc>
                <a:spcPct val="95000"/>
              </a:lnSpc>
              <a:spcBef>
                <a:spcPts val="1200"/>
              </a:spcBef>
              <a:spcAft>
                <a:spcPts val="0"/>
              </a:spcAft>
              <a:buNone/>
            </a:pPr>
            <a:r>
              <a:rPr lang="en" sz="1600"/>
              <a:t>      ↓</a:t>
            </a:r>
            <a:endParaRPr sz="1600"/>
          </a:p>
          <a:p>
            <a:pPr indent="0" lvl="0" marL="0" rtl="0" algn="l">
              <a:lnSpc>
                <a:spcPct val="95000"/>
              </a:lnSpc>
              <a:spcBef>
                <a:spcPts val="1200"/>
              </a:spcBef>
              <a:spcAft>
                <a:spcPts val="0"/>
              </a:spcAft>
              <a:buNone/>
            </a:pPr>
            <a:r>
              <a:rPr lang="en" sz="1600"/>
              <a:t>Architectural Graph</a:t>
            </a:r>
            <a:endParaRPr sz="1600"/>
          </a:p>
          <a:p>
            <a:pPr indent="0" lvl="0" marL="0" rtl="0" algn="l">
              <a:lnSpc>
                <a:spcPct val="95000"/>
              </a:lnSpc>
              <a:spcBef>
                <a:spcPts val="1200"/>
              </a:spcBef>
              <a:spcAft>
                <a:spcPts val="0"/>
              </a:spcAft>
              <a:buNone/>
            </a:pPr>
            <a:r>
              <a:rPr lang="en" sz="1600"/>
              <a:t>      ↓</a:t>
            </a:r>
            <a:endParaRPr sz="1600"/>
          </a:p>
          <a:p>
            <a:pPr indent="0" lvl="0" marL="0" rtl="0" algn="l">
              <a:lnSpc>
                <a:spcPct val="95000"/>
              </a:lnSpc>
              <a:spcBef>
                <a:spcPts val="1200"/>
              </a:spcBef>
              <a:spcAft>
                <a:spcPts val="0"/>
              </a:spcAft>
              <a:buNone/>
            </a:pPr>
            <a:r>
              <a:rPr lang="en" sz="1600"/>
              <a:t>Architectural Delta</a:t>
            </a:r>
            <a:endParaRPr sz="1600"/>
          </a:p>
          <a:p>
            <a:pPr indent="0" lvl="0" marL="0" rtl="0" algn="l">
              <a:lnSpc>
                <a:spcPct val="95000"/>
              </a:lnSpc>
              <a:spcBef>
                <a:spcPts val="1200"/>
              </a:spcBef>
              <a:spcAft>
                <a:spcPts val="0"/>
              </a:spcAft>
              <a:buNone/>
            </a:pPr>
            <a:r>
              <a:rPr lang="en" sz="1600"/>
              <a:t>      ↓</a:t>
            </a:r>
            <a:endParaRPr sz="1600"/>
          </a:p>
          <a:p>
            <a:pPr indent="0" lvl="0" marL="0" rtl="0" algn="l">
              <a:lnSpc>
                <a:spcPct val="95000"/>
              </a:lnSpc>
              <a:spcBef>
                <a:spcPts val="1200"/>
              </a:spcBef>
              <a:spcAft>
                <a:spcPts val="0"/>
              </a:spcAft>
              <a:buNone/>
            </a:pPr>
            <a:r>
              <a:rPr lang="en" sz="1600"/>
              <a:t>Review / Policy / Automation</a:t>
            </a:r>
            <a:endParaRPr sz="1600"/>
          </a:p>
          <a:p>
            <a:pPr indent="0" lvl="0" marL="0" rtl="0" algn="l">
              <a:lnSpc>
                <a:spcPct val="95000"/>
              </a:lnSpc>
              <a:spcBef>
                <a:spcPts val="1200"/>
              </a:spcBef>
              <a:spcAft>
                <a:spcPts val="1200"/>
              </a:spcAft>
              <a:buNone/>
            </a:pPr>
            <a:r>
              <a:t/>
            </a:r>
            <a:endParaRPr sz="1600"/>
          </a:p>
        </p:txBody>
      </p:sp>
      <p:sp>
        <p:nvSpPr>
          <p:cNvPr id="122" name="Google Shape;12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445025"/>
            <a:ext cx="8681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Problem: Large textual change ≠ Large architectural change</a:t>
            </a:r>
            <a:endParaRPr sz="2420"/>
          </a:p>
        </p:txBody>
      </p:sp>
      <p:sp>
        <p:nvSpPr>
          <p:cNvPr id="128" name="Google Shape;128;p23"/>
          <p:cNvSpPr txBox="1"/>
          <p:nvPr>
            <p:ph idx="1" type="body"/>
          </p:nvPr>
        </p:nvSpPr>
        <p:spPr>
          <a:xfrm>
            <a:off x="311700" y="1152475"/>
            <a:ext cx="341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might show:</a:t>
            </a:r>
            <a:endParaRPr/>
          </a:p>
          <a:p>
            <a:pPr indent="0" lvl="0" marL="0" rtl="0" algn="l">
              <a:spcBef>
                <a:spcPts val="1200"/>
              </a:spcBef>
              <a:spcAft>
                <a:spcPts val="0"/>
              </a:spcAft>
              <a:buClr>
                <a:schemeClr val="dk1"/>
              </a:buClr>
              <a:buSzPts val="1100"/>
              <a:buFont typeface="Arial"/>
              <a:buNone/>
            </a:pPr>
            <a:r>
              <a:rPr lang="en"/>
              <a:t>100 files changed</a:t>
            </a:r>
            <a:endParaRPr/>
          </a:p>
          <a:p>
            <a:pPr indent="0" lvl="0" marL="0" rtl="0" algn="l">
              <a:spcBef>
                <a:spcPts val="1200"/>
              </a:spcBef>
              <a:spcAft>
                <a:spcPts val="0"/>
              </a:spcAft>
              <a:buClr>
                <a:schemeClr val="dk1"/>
              </a:buClr>
              <a:buSzPts val="1100"/>
              <a:buFont typeface="Arial"/>
              <a:buNone/>
            </a:pPr>
            <a:r>
              <a:rPr lang="en"/>
              <a:t>↓</a:t>
            </a:r>
            <a:endParaRPr/>
          </a:p>
          <a:p>
            <a:pPr indent="0" lvl="0" marL="0" rtl="0" algn="l">
              <a:spcBef>
                <a:spcPts val="1200"/>
              </a:spcBef>
              <a:spcAft>
                <a:spcPts val="0"/>
              </a:spcAft>
              <a:buClr>
                <a:schemeClr val="dk1"/>
              </a:buClr>
              <a:buSzPts val="1100"/>
              <a:buFont typeface="Arial"/>
              <a:buNone/>
            </a:pPr>
            <a:r>
              <a:rPr lang="en"/>
              <a:t>Architectural Delta = ∅</a:t>
            </a:r>
            <a:endParaRPr/>
          </a:p>
          <a:p>
            <a:pPr indent="0" lvl="0" marL="0" rtl="0" algn="l">
              <a:spcBef>
                <a:spcPts val="1200"/>
              </a:spcBef>
              <a:spcAft>
                <a:spcPts val="1200"/>
              </a:spcAft>
              <a:buNone/>
            </a:pPr>
            <a:r>
              <a:t/>
            </a:r>
            <a:endParaRPr/>
          </a:p>
        </p:txBody>
      </p:sp>
      <p:sp>
        <p:nvSpPr>
          <p:cNvPr id="129" name="Google Shape;129;p23"/>
          <p:cNvSpPr txBox="1"/>
          <p:nvPr>
            <p:ph idx="1" type="body"/>
          </p:nvPr>
        </p:nvSpPr>
        <p:spPr>
          <a:xfrm>
            <a:off x="4130925" y="1152475"/>
            <a:ext cx="42084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Actually the developer only</a:t>
            </a:r>
            <a:endParaRPr/>
          </a:p>
          <a:p>
            <a:pPr indent="-342900" lvl="0" marL="457200" rtl="0" algn="l">
              <a:spcBef>
                <a:spcPts val="1200"/>
              </a:spcBef>
              <a:spcAft>
                <a:spcPts val="0"/>
              </a:spcAft>
              <a:buSzPts val="1800"/>
              <a:buChar char="●"/>
            </a:pPr>
            <a:r>
              <a:rPr lang="en"/>
              <a:t>renamed packages</a:t>
            </a:r>
            <a:endParaRPr/>
          </a:p>
          <a:p>
            <a:pPr indent="-342900" lvl="0" marL="457200" rtl="0" algn="l">
              <a:spcBef>
                <a:spcPts val="0"/>
              </a:spcBef>
              <a:spcAft>
                <a:spcPts val="0"/>
              </a:spcAft>
              <a:buSzPts val="1800"/>
              <a:buChar char="●"/>
            </a:pPr>
            <a:r>
              <a:rPr lang="en"/>
              <a:t>moved files</a:t>
            </a:r>
            <a:endParaRPr/>
          </a:p>
          <a:p>
            <a:pPr indent="-342900" lvl="0" marL="457200" rtl="0" algn="l">
              <a:spcBef>
                <a:spcPts val="0"/>
              </a:spcBef>
              <a:spcAft>
                <a:spcPts val="0"/>
              </a:spcAft>
              <a:buSzPts val="1800"/>
              <a:buChar char="●"/>
            </a:pPr>
            <a:r>
              <a:rPr lang="en"/>
              <a:t>reorganized folders</a:t>
            </a:r>
            <a:endParaRPr/>
          </a:p>
          <a:p>
            <a:pPr indent="-342900" lvl="0" marL="457200" rtl="0" algn="l">
              <a:spcBef>
                <a:spcPts val="0"/>
              </a:spcBef>
              <a:spcAft>
                <a:spcPts val="0"/>
              </a:spcAft>
              <a:buSzPts val="1800"/>
              <a:buChar char="●"/>
            </a:pPr>
            <a:r>
              <a:rPr lang="en"/>
              <a:t>split modules</a:t>
            </a:r>
            <a:endParaRPr/>
          </a:p>
          <a:p>
            <a:pPr indent="0" lvl="0" marL="0" rtl="0" algn="l">
              <a:spcBef>
                <a:spcPts val="1200"/>
              </a:spcBef>
              <a:spcAft>
                <a:spcPts val="0"/>
              </a:spcAft>
              <a:buNone/>
            </a:pPr>
            <a:r>
              <a:rPr lang="en"/>
              <a:t>Result:</a:t>
            </a:r>
            <a:endParaRPr/>
          </a:p>
          <a:p>
            <a:pPr indent="0" lvl="0" marL="0" rtl="0" algn="l">
              <a:spcBef>
                <a:spcPts val="1200"/>
              </a:spcBef>
              <a:spcAft>
                <a:spcPts val="0"/>
              </a:spcAft>
              <a:buNone/>
            </a:pPr>
            <a:r>
              <a:rPr lang="en"/>
              <a:t>✅ Same architecture</a:t>
            </a:r>
            <a:endParaRPr/>
          </a:p>
          <a:p>
            <a:pPr indent="0" lvl="0" marL="0" rtl="0" algn="l">
              <a:spcBef>
                <a:spcPts val="1200"/>
              </a:spcBef>
              <a:spcAft>
                <a:spcPts val="0"/>
              </a:spcAft>
              <a:buNone/>
            </a:pPr>
            <a:r>
              <a:rPr lang="en"/>
              <a:t>✅ Same interfaces</a:t>
            </a:r>
            <a:endParaRPr/>
          </a:p>
          <a:p>
            <a:pPr indent="0" lvl="0" marL="0" rtl="0" algn="l">
              <a:spcBef>
                <a:spcPts val="1200"/>
              </a:spcBef>
              <a:spcAft>
                <a:spcPts val="1200"/>
              </a:spcAft>
              <a:buNone/>
            </a:pPr>
            <a:r>
              <a:rPr lang="en"/>
              <a:t>✅ Same dependencies</a:t>
            </a:r>
            <a:endParaRPr/>
          </a:p>
        </p:txBody>
      </p:sp>
      <p:sp>
        <p:nvSpPr>
          <p:cNvPr id="130" name="Google Shape;13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445025"/>
            <a:ext cx="8681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Problem: Large textual change ≠ Large architectural change</a:t>
            </a:r>
            <a:endParaRPr sz="2420"/>
          </a:p>
        </p:txBody>
      </p:sp>
      <p:sp>
        <p:nvSpPr>
          <p:cNvPr id="136" name="Google Shape;136;p24"/>
          <p:cNvSpPr txBox="1"/>
          <p:nvPr>
            <p:ph idx="1" type="body"/>
          </p:nvPr>
        </p:nvSpPr>
        <p:spPr>
          <a:xfrm>
            <a:off x="311700" y="1152475"/>
            <a:ext cx="3410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might show:</a:t>
            </a:r>
            <a:endParaRPr/>
          </a:p>
          <a:p>
            <a:pPr indent="0" lvl="0" marL="0" rtl="0" algn="l">
              <a:spcBef>
                <a:spcPts val="1200"/>
              </a:spcBef>
              <a:spcAft>
                <a:spcPts val="0"/>
              </a:spcAft>
              <a:buNone/>
            </a:pPr>
            <a:r>
              <a:rPr lang="en"/>
              <a:t>100 files changed</a:t>
            </a:r>
            <a:endParaRPr/>
          </a:p>
          <a:p>
            <a:pPr indent="0" lvl="0" marL="0" rtl="0" algn="l">
              <a:spcBef>
                <a:spcPts val="1200"/>
              </a:spcBef>
              <a:spcAft>
                <a:spcPts val="0"/>
              </a:spcAft>
              <a:buNone/>
            </a:pPr>
            <a:r>
              <a:rPr lang="en"/>
              <a:t>↓</a:t>
            </a:r>
            <a:endParaRPr/>
          </a:p>
          <a:p>
            <a:pPr indent="0" lvl="0" marL="0" rtl="0" algn="l">
              <a:spcBef>
                <a:spcPts val="1200"/>
              </a:spcBef>
              <a:spcAft>
                <a:spcPts val="0"/>
              </a:spcAft>
              <a:buNone/>
            </a:pPr>
            <a:r>
              <a:rPr lang="en"/>
              <a:t>Architectural Delta = ∅</a:t>
            </a:r>
            <a:endParaRPr/>
          </a:p>
          <a:p>
            <a:pPr indent="0" lvl="0" marL="0" rtl="0" algn="l">
              <a:spcBef>
                <a:spcPts val="1200"/>
              </a:spcBef>
              <a:spcAft>
                <a:spcPts val="1200"/>
              </a:spcAft>
              <a:buNone/>
            </a:pPr>
            <a:r>
              <a:t/>
            </a:r>
            <a:endParaRPr/>
          </a:p>
        </p:txBody>
      </p:sp>
      <p:sp>
        <p:nvSpPr>
          <p:cNvPr id="137" name="Google Shape;137;p24"/>
          <p:cNvSpPr txBox="1"/>
          <p:nvPr>
            <p:ph idx="1" type="body"/>
          </p:nvPr>
        </p:nvSpPr>
        <p:spPr>
          <a:xfrm>
            <a:off x="4130925" y="1152475"/>
            <a:ext cx="42084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Actually the developer only</a:t>
            </a:r>
            <a:endParaRPr/>
          </a:p>
          <a:p>
            <a:pPr indent="-342900" lvl="0" marL="457200" rtl="0" algn="l">
              <a:spcBef>
                <a:spcPts val="1200"/>
              </a:spcBef>
              <a:spcAft>
                <a:spcPts val="0"/>
              </a:spcAft>
              <a:buSzPts val="1800"/>
              <a:buChar char="●"/>
            </a:pPr>
            <a:r>
              <a:rPr lang="en"/>
              <a:t>renamed packages</a:t>
            </a:r>
            <a:endParaRPr/>
          </a:p>
          <a:p>
            <a:pPr indent="-342900" lvl="0" marL="457200" rtl="0" algn="l">
              <a:spcBef>
                <a:spcPts val="0"/>
              </a:spcBef>
              <a:spcAft>
                <a:spcPts val="0"/>
              </a:spcAft>
              <a:buSzPts val="1800"/>
              <a:buChar char="●"/>
            </a:pPr>
            <a:r>
              <a:rPr lang="en"/>
              <a:t>moved files</a:t>
            </a:r>
            <a:endParaRPr/>
          </a:p>
          <a:p>
            <a:pPr indent="-342900" lvl="0" marL="457200" rtl="0" algn="l">
              <a:spcBef>
                <a:spcPts val="0"/>
              </a:spcBef>
              <a:spcAft>
                <a:spcPts val="0"/>
              </a:spcAft>
              <a:buSzPts val="1800"/>
              <a:buChar char="●"/>
            </a:pPr>
            <a:r>
              <a:rPr lang="en"/>
              <a:t>reorganized folders</a:t>
            </a:r>
            <a:endParaRPr/>
          </a:p>
          <a:p>
            <a:pPr indent="-342900" lvl="0" marL="457200" rtl="0" algn="l">
              <a:spcBef>
                <a:spcPts val="0"/>
              </a:spcBef>
              <a:spcAft>
                <a:spcPts val="0"/>
              </a:spcAft>
              <a:buSzPts val="1800"/>
              <a:buChar char="●"/>
            </a:pPr>
            <a:r>
              <a:rPr lang="en"/>
              <a:t>split modules</a:t>
            </a:r>
            <a:endParaRPr/>
          </a:p>
          <a:p>
            <a:pPr indent="0" lvl="0" marL="0" rtl="0" algn="l">
              <a:spcBef>
                <a:spcPts val="1200"/>
              </a:spcBef>
              <a:spcAft>
                <a:spcPts val="0"/>
              </a:spcAft>
              <a:buNone/>
            </a:pPr>
            <a:r>
              <a:rPr lang="en"/>
              <a:t>Result:</a:t>
            </a:r>
            <a:endParaRPr/>
          </a:p>
          <a:p>
            <a:pPr indent="0" lvl="0" marL="0" rtl="0" algn="l">
              <a:spcBef>
                <a:spcPts val="1200"/>
              </a:spcBef>
              <a:spcAft>
                <a:spcPts val="0"/>
              </a:spcAft>
              <a:buNone/>
            </a:pPr>
            <a:r>
              <a:rPr lang="en"/>
              <a:t>✅ Same architecture</a:t>
            </a:r>
            <a:endParaRPr/>
          </a:p>
          <a:p>
            <a:pPr indent="0" lvl="0" marL="0" rtl="0" algn="l">
              <a:spcBef>
                <a:spcPts val="1200"/>
              </a:spcBef>
              <a:spcAft>
                <a:spcPts val="0"/>
              </a:spcAft>
              <a:buNone/>
            </a:pPr>
            <a:r>
              <a:rPr lang="en"/>
              <a:t>✅ Same interfaces</a:t>
            </a:r>
            <a:endParaRPr/>
          </a:p>
          <a:p>
            <a:pPr indent="0" lvl="0" marL="0" rtl="0" algn="l">
              <a:spcBef>
                <a:spcPts val="1200"/>
              </a:spcBef>
              <a:spcAft>
                <a:spcPts val="1200"/>
              </a:spcAft>
              <a:buNone/>
            </a:pPr>
            <a:r>
              <a:rPr lang="en"/>
              <a:t>✅ Same dependencies</a:t>
            </a:r>
            <a:endParaRPr/>
          </a:p>
        </p:txBody>
      </p:sp>
      <p:sp>
        <p:nvSpPr>
          <p:cNvPr id="138" name="Google Shape;138;p24"/>
          <p:cNvSpPr/>
          <p:nvPr/>
        </p:nvSpPr>
        <p:spPr>
          <a:xfrm>
            <a:off x="919650" y="2387425"/>
            <a:ext cx="7164600" cy="9465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 massive textual diff can correspond to almost no architectural change.</a:t>
            </a:r>
            <a:endParaRPr sz="1800">
              <a:solidFill>
                <a:schemeClr val="lt1"/>
              </a:solidFill>
            </a:endParaRPr>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Tiny textual change ≠ Tiny architectural change</a:t>
            </a:r>
            <a:endParaRPr/>
          </a:p>
        </p:txBody>
      </p:sp>
      <p:sp>
        <p:nvSpPr>
          <p:cNvPr id="145" name="Google Shape;14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import grpc -&gt; looks harmless</a:t>
            </a:r>
            <a:endParaRPr/>
          </a:p>
          <a:p>
            <a:pPr indent="0" lvl="0" marL="0" rtl="0" algn="l">
              <a:spcBef>
                <a:spcPts val="1200"/>
              </a:spcBef>
              <a:spcAft>
                <a:spcPts val="0"/>
              </a:spcAft>
              <a:buClr>
                <a:schemeClr val="dk1"/>
              </a:buClr>
              <a:buSzPts val="1100"/>
              <a:buFont typeface="Arial"/>
              <a:buNone/>
            </a:pPr>
            <a:r>
              <a:rPr lang="en"/>
              <a:t>But suddenly</a:t>
            </a:r>
            <a:endParaRPr/>
          </a:p>
          <a:p>
            <a:pPr indent="0" lvl="0" marL="0" rtl="0" algn="l">
              <a:spcBef>
                <a:spcPts val="1200"/>
              </a:spcBef>
              <a:spcAft>
                <a:spcPts val="0"/>
              </a:spcAft>
              <a:buClr>
                <a:schemeClr val="dk1"/>
              </a:buClr>
              <a:buSzPts val="1100"/>
              <a:buFont typeface="Arial"/>
              <a:buNone/>
            </a:pPr>
            <a:r>
              <a:rPr lang="en"/>
              <a:t>Module A</a:t>
            </a:r>
            <a:endParaRPr/>
          </a:p>
          <a:p>
            <a:pPr indent="0" lvl="0" marL="0" rtl="0" algn="l">
              <a:spcBef>
                <a:spcPts val="1200"/>
              </a:spcBef>
              <a:spcAft>
                <a:spcPts val="0"/>
              </a:spcAft>
              <a:buClr>
                <a:schemeClr val="dk1"/>
              </a:buClr>
              <a:buSzPts val="1100"/>
              <a:buFont typeface="Arial"/>
              <a:buNone/>
            </a:pPr>
            <a:r>
              <a:rPr lang="en"/>
              <a:t>depends on</a:t>
            </a:r>
            <a:endParaRPr/>
          </a:p>
          <a:p>
            <a:pPr indent="0" lvl="0" marL="0" rtl="0" algn="l">
              <a:spcBef>
                <a:spcPts val="1200"/>
              </a:spcBef>
              <a:spcAft>
                <a:spcPts val="0"/>
              </a:spcAft>
              <a:buClr>
                <a:schemeClr val="dk1"/>
              </a:buClr>
              <a:buSzPts val="1100"/>
              <a:buFont typeface="Arial"/>
              <a:buNone/>
            </a:pPr>
            <a:r>
              <a:rPr lang="en"/>
              <a:t>Module B etc.</a:t>
            </a:r>
            <a:endParaRPr/>
          </a:p>
          <a:p>
            <a:pPr indent="0" lvl="0" marL="0" rtl="0" algn="l">
              <a:spcBef>
                <a:spcPts val="1200"/>
              </a:spcBef>
              <a:spcAft>
                <a:spcPts val="1200"/>
              </a:spcAft>
              <a:buNone/>
            </a:pPr>
            <a:r>
              <a:t/>
            </a:r>
            <a:endParaRPr/>
          </a:p>
        </p:txBody>
      </p:sp>
      <p:sp>
        <p:nvSpPr>
          <p:cNvPr id="146" name="Google Shape;14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Tiny textual change ≠ Tiny architectural change</a:t>
            </a:r>
            <a:endParaRPr/>
          </a:p>
        </p:txBody>
      </p:sp>
      <p:sp>
        <p:nvSpPr>
          <p:cNvPr id="152" name="Google Shape;15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import grpc -&gt; looks harmless</a:t>
            </a:r>
            <a:endParaRPr/>
          </a:p>
          <a:p>
            <a:pPr indent="0" lvl="0" marL="0" rtl="0" algn="l">
              <a:spcBef>
                <a:spcPts val="1200"/>
              </a:spcBef>
              <a:spcAft>
                <a:spcPts val="0"/>
              </a:spcAft>
              <a:buNone/>
            </a:pPr>
            <a:r>
              <a:rPr lang="en"/>
              <a:t>But suddenly</a:t>
            </a:r>
            <a:endParaRPr/>
          </a:p>
          <a:p>
            <a:pPr indent="0" lvl="0" marL="0" rtl="0" algn="l">
              <a:spcBef>
                <a:spcPts val="1200"/>
              </a:spcBef>
              <a:spcAft>
                <a:spcPts val="0"/>
              </a:spcAft>
              <a:buNone/>
            </a:pPr>
            <a:r>
              <a:rPr lang="en"/>
              <a:t>Module A</a:t>
            </a:r>
            <a:endParaRPr/>
          </a:p>
          <a:p>
            <a:pPr indent="0" lvl="0" marL="0" rtl="0" algn="l">
              <a:spcBef>
                <a:spcPts val="1200"/>
              </a:spcBef>
              <a:spcAft>
                <a:spcPts val="0"/>
              </a:spcAft>
              <a:buNone/>
            </a:pPr>
            <a:r>
              <a:rPr lang="en"/>
              <a:t>depends on</a:t>
            </a:r>
            <a:endParaRPr/>
          </a:p>
          <a:p>
            <a:pPr indent="0" lvl="0" marL="0" rtl="0" algn="l">
              <a:spcBef>
                <a:spcPts val="1200"/>
              </a:spcBef>
              <a:spcAft>
                <a:spcPts val="0"/>
              </a:spcAft>
              <a:buNone/>
            </a:pPr>
            <a:r>
              <a:rPr lang="en"/>
              <a:t>Module B etc.</a:t>
            </a:r>
            <a:endParaRPr/>
          </a:p>
          <a:p>
            <a:pPr indent="0" lvl="0" marL="0" rtl="0" algn="l">
              <a:spcBef>
                <a:spcPts val="1200"/>
              </a:spcBef>
              <a:spcAft>
                <a:spcPts val="1200"/>
              </a:spcAft>
              <a:buNone/>
            </a:pPr>
            <a:r>
              <a:t/>
            </a:r>
            <a:endParaRPr/>
          </a:p>
        </p:txBody>
      </p:sp>
      <p:sp>
        <p:nvSpPr>
          <p:cNvPr id="153" name="Google Shape;153;p26"/>
          <p:cNvSpPr/>
          <p:nvPr/>
        </p:nvSpPr>
        <p:spPr>
          <a:xfrm>
            <a:off x="919650" y="2387425"/>
            <a:ext cx="7164600" cy="9465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A one-line code change can fundamentally change the architecture</a:t>
            </a:r>
            <a:endParaRPr sz="1800">
              <a:solidFill>
                <a:schemeClr val="lt1"/>
              </a:solidFill>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amplifies the problems</a:t>
            </a:r>
            <a:endParaRPr/>
          </a:p>
        </p:txBody>
      </p:sp>
      <p:sp>
        <p:nvSpPr>
          <p:cNvPr id="160" name="Google Shape;160;p27"/>
          <p:cNvSpPr txBox="1"/>
          <p:nvPr>
            <p:ph idx="1" type="body"/>
          </p:nvPr>
        </p:nvSpPr>
        <p:spPr>
          <a:xfrm>
            <a:off x="311700" y="1152475"/>
            <a:ext cx="3744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Claude Code</a:t>
            </a:r>
            <a:endParaRPr/>
          </a:p>
          <a:p>
            <a:pPr indent="0" lvl="0" marL="0" rtl="0" algn="l">
              <a:spcBef>
                <a:spcPts val="1200"/>
              </a:spcBef>
              <a:spcAft>
                <a:spcPts val="0"/>
              </a:spcAft>
              <a:buClr>
                <a:schemeClr val="dk1"/>
              </a:buClr>
              <a:buSzPts val="1100"/>
              <a:buFont typeface="Arial"/>
              <a:buNone/>
            </a:pPr>
            <a:r>
              <a:rPr lang="en"/>
              <a:t>↓</a:t>
            </a:r>
            <a:endParaRPr/>
          </a:p>
          <a:p>
            <a:pPr indent="0" lvl="0" marL="0" rtl="0" algn="l">
              <a:spcBef>
                <a:spcPts val="1200"/>
              </a:spcBef>
              <a:spcAft>
                <a:spcPts val="0"/>
              </a:spcAft>
              <a:buClr>
                <a:schemeClr val="dk1"/>
              </a:buClr>
              <a:buSzPts val="1100"/>
              <a:buFont typeface="Arial"/>
              <a:buNone/>
            </a:pPr>
            <a:r>
              <a:rPr lang="en"/>
              <a:t>1</a:t>
            </a:r>
            <a:r>
              <a:rPr lang="en"/>
              <a:t>35 files modified</a:t>
            </a:r>
            <a:endParaRPr/>
          </a:p>
          <a:p>
            <a:pPr indent="0" lvl="0" marL="0" rtl="0" algn="l">
              <a:spcBef>
                <a:spcPts val="1200"/>
              </a:spcBef>
              <a:spcAft>
                <a:spcPts val="0"/>
              </a:spcAft>
              <a:buClr>
                <a:schemeClr val="dk1"/>
              </a:buClr>
              <a:buSzPts val="1100"/>
              <a:buFont typeface="Arial"/>
              <a:buNone/>
            </a:pPr>
            <a:r>
              <a:rPr lang="en"/>
              <a:t>↓</a:t>
            </a:r>
            <a:endParaRPr/>
          </a:p>
          <a:p>
            <a:pPr indent="0" lvl="0" marL="0" rtl="0" algn="l">
              <a:spcBef>
                <a:spcPts val="1200"/>
              </a:spcBef>
              <a:spcAft>
                <a:spcPts val="0"/>
              </a:spcAft>
              <a:buClr>
                <a:schemeClr val="dk1"/>
              </a:buClr>
              <a:buSzPts val="1100"/>
              <a:buFont typeface="Arial"/>
              <a:buNone/>
            </a:pPr>
            <a:r>
              <a:rPr lang="en"/>
              <a:t>GitHub</a:t>
            </a:r>
            <a:endParaRPr/>
          </a:p>
          <a:p>
            <a:pPr indent="0" lvl="0" marL="0" rtl="0" algn="l">
              <a:spcBef>
                <a:spcPts val="1200"/>
              </a:spcBef>
              <a:spcAft>
                <a:spcPts val="0"/>
              </a:spcAft>
              <a:buClr>
                <a:schemeClr val="dk1"/>
              </a:buClr>
              <a:buSzPts val="1100"/>
              <a:buFont typeface="Arial"/>
              <a:buNone/>
            </a:pPr>
            <a:r>
              <a:rPr lang="en"/>
              <a:t>135 textual diffs</a:t>
            </a:r>
            <a:endParaRPr/>
          </a:p>
          <a:p>
            <a:pPr indent="0" lvl="0" marL="0" rtl="0" algn="l">
              <a:spcBef>
                <a:spcPts val="1200"/>
              </a:spcBef>
              <a:spcAft>
                <a:spcPts val="1200"/>
              </a:spcAft>
              <a:buNone/>
            </a:pPr>
            <a:r>
              <a:t/>
            </a:r>
            <a:endParaRPr/>
          </a:p>
        </p:txBody>
      </p:sp>
      <p:sp>
        <p:nvSpPr>
          <p:cNvPr id="161" name="Google Shape;161;p27"/>
          <p:cNvSpPr txBox="1"/>
          <p:nvPr>
            <p:ph idx="1" type="body"/>
          </p:nvPr>
        </p:nvSpPr>
        <p:spPr>
          <a:xfrm>
            <a:off x="4336850" y="1240325"/>
            <a:ext cx="37440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Clr>
                <a:schemeClr val="dk1"/>
              </a:buClr>
              <a:buSzPct val="61111"/>
              <a:buFont typeface="Arial"/>
              <a:buNone/>
            </a:pPr>
            <a:r>
              <a:rPr lang="en"/>
              <a:t>What reviewers actually want to know</a:t>
            </a:r>
            <a:endParaRPr/>
          </a:p>
          <a:p>
            <a:pPr indent="0" lvl="0" marL="0" rtl="0" algn="l">
              <a:spcBef>
                <a:spcPts val="1200"/>
              </a:spcBef>
              <a:spcAft>
                <a:spcPts val="0"/>
              </a:spcAft>
              <a:buClr>
                <a:schemeClr val="dk1"/>
              </a:buClr>
              <a:buSzPct val="61111"/>
              <a:buFont typeface="Arial"/>
              <a:buNone/>
            </a:pPr>
            <a:r>
              <a:rPr lang="en"/>
              <a:t>✓ Did module boundaries change?</a:t>
            </a:r>
            <a:endParaRPr/>
          </a:p>
          <a:p>
            <a:pPr indent="0" lvl="0" marL="0" rtl="0" algn="l">
              <a:spcBef>
                <a:spcPts val="1200"/>
              </a:spcBef>
              <a:spcAft>
                <a:spcPts val="0"/>
              </a:spcAft>
              <a:buClr>
                <a:schemeClr val="dk1"/>
              </a:buClr>
              <a:buSzPct val="61111"/>
              <a:buFont typeface="Arial"/>
              <a:buNone/>
            </a:pPr>
            <a:r>
              <a:rPr lang="en"/>
              <a:t>✓ Did APIs change?</a:t>
            </a:r>
            <a:endParaRPr/>
          </a:p>
          <a:p>
            <a:pPr indent="0" lvl="0" marL="0" rtl="0" algn="l">
              <a:spcBef>
                <a:spcPts val="1200"/>
              </a:spcBef>
              <a:spcAft>
                <a:spcPts val="0"/>
              </a:spcAft>
              <a:buClr>
                <a:schemeClr val="dk1"/>
              </a:buClr>
              <a:buSzPct val="61111"/>
              <a:buFont typeface="Arial"/>
              <a:buNone/>
            </a:pPr>
            <a:r>
              <a:rPr lang="en"/>
              <a:t>✓ Did new dependencies appear?</a:t>
            </a:r>
            <a:endParaRPr/>
          </a:p>
          <a:p>
            <a:pPr indent="0" lvl="0" marL="0" rtl="0" algn="l">
              <a:spcBef>
                <a:spcPts val="1200"/>
              </a:spcBef>
              <a:spcAft>
                <a:spcPts val="0"/>
              </a:spcAft>
              <a:buClr>
                <a:schemeClr val="dk1"/>
              </a:buClr>
              <a:buSzPct val="61111"/>
              <a:buFont typeface="Arial"/>
              <a:buNone/>
            </a:pPr>
            <a:r>
              <a:rPr lang="en"/>
              <a:t>✓ Did security boundaries change?</a:t>
            </a:r>
            <a:endParaRPr/>
          </a:p>
          <a:p>
            <a:pPr indent="0" lvl="0" marL="0" rtl="0" algn="l">
              <a:spcBef>
                <a:spcPts val="1200"/>
              </a:spcBef>
              <a:spcAft>
                <a:spcPts val="0"/>
              </a:spcAft>
              <a:buClr>
                <a:schemeClr val="dk1"/>
              </a:buClr>
              <a:buSzPct val="61111"/>
              <a:buFont typeface="Arial"/>
              <a:buNone/>
            </a:pPr>
            <a:r>
              <a:rPr lang="en"/>
              <a:t>✓ Is this an internal refactor?</a:t>
            </a:r>
            <a:endParaRPr/>
          </a:p>
          <a:p>
            <a:pPr indent="0" lvl="0" marL="0" rtl="0" algn="l">
              <a:spcBef>
                <a:spcPts val="1200"/>
              </a:spcBef>
              <a:spcAft>
                <a:spcPts val="1200"/>
              </a:spcAft>
              <a:buNone/>
            </a:pPr>
            <a:r>
              <a:t/>
            </a:r>
            <a:endParaRPr/>
          </a:p>
        </p:txBody>
      </p:sp>
      <p:sp>
        <p:nvSpPr>
          <p:cNvPr id="162" name="Google Shape;16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amplifies the problems</a:t>
            </a:r>
            <a:endParaRPr/>
          </a:p>
        </p:txBody>
      </p:sp>
      <p:sp>
        <p:nvSpPr>
          <p:cNvPr id="168" name="Google Shape;168;p28"/>
          <p:cNvSpPr txBox="1"/>
          <p:nvPr>
            <p:ph idx="1" type="body"/>
          </p:nvPr>
        </p:nvSpPr>
        <p:spPr>
          <a:xfrm>
            <a:off x="311700" y="1152475"/>
            <a:ext cx="3744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Claude Code</a:t>
            </a:r>
            <a:endParaRPr/>
          </a:p>
          <a:p>
            <a:pPr indent="0" lvl="0" marL="0" rtl="0" algn="l">
              <a:spcBef>
                <a:spcPts val="1200"/>
              </a:spcBef>
              <a:spcAft>
                <a:spcPts val="0"/>
              </a:spcAft>
              <a:buNone/>
            </a:pPr>
            <a:r>
              <a:rPr lang="en"/>
              <a:t>↓</a:t>
            </a:r>
            <a:endParaRPr/>
          </a:p>
          <a:p>
            <a:pPr indent="0" lvl="0" marL="0" rtl="0" algn="l">
              <a:spcBef>
                <a:spcPts val="1200"/>
              </a:spcBef>
              <a:spcAft>
                <a:spcPts val="0"/>
              </a:spcAft>
              <a:buNone/>
            </a:pPr>
            <a:r>
              <a:rPr lang="en"/>
              <a:t>135 files modified</a:t>
            </a:r>
            <a:endParaRPr/>
          </a:p>
          <a:p>
            <a:pPr indent="0" lvl="0" marL="0" rtl="0" algn="l">
              <a:spcBef>
                <a:spcPts val="1200"/>
              </a:spcBef>
              <a:spcAft>
                <a:spcPts val="0"/>
              </a:spcAft>
              <a:buNone/>
            </a:pPr>
            <a:r>
              <a:rPr lang="en"/>
              <a:t>↓</a:t>
            </a:r>
            <a:endParaRPr/>
          </a:p>
          <a:p>
            <a:pPr indent="0" lvl="0" marL="0" rtl="0" algn="l">
              <a:spcBef>
                <a:spcPts val="1200"/>
              </a:spcBef>
              <a:spcAft>
                <a:spcPts val="0"/>
              </a:spcAft>
              <a:buNone/>
            </a:pPr>
            <a:r>
              <a:rPr lang="en"/>
              <a:t>GitHub</a:t>
            </a:r>
            <a:endParaRPr/>
          </a:p>
          <a:p>
            <a:pPr indent="0" lvl="0" marL="0" rtl="0" algn="l">
              <a:spcBef>
                <a:spcPts val="1200"/>
              </a:spcBef>
              <a:spcAft>
                <a:spcPts val="0"/>
              </a:spcAft>
              <a:buNone/>
            </a:pPr>
            <a:r>
              <a:rPr lang="en"/>
              <a:t>135 textual diffs</a:t>
            </a:r>
            <a:endParaRPr/>
          </a:p>
          <a:p>
            <a:pPr indent="0" lvl="0" marL="0" rtl="0" algn="l">
              <a:spcBef>
                <a:spcPts val="1200"/>
              </a:spcBef>
              <a:spcAft>
                <a:spcPts val="1200"/>
              </a:spcAft>
              <a:buNone/>
            </a:pPr>
            <a:r>
              <a:t/>
            </a:r>
            <a:endParaRPr/>
          </a:p>
        </p:txBody>
      </p:sp>
      <p:sp>
        <p:nvSpPr>
          <p:cNvPr id="169" name="Google Shape;169;p28"/>
          <p:cNvSpPr txBox="1"/>
          <p:nvPr>
            <p:ph idx="1" type="body"/>
          </p:nvPr>
        </p:nvSpPr>
        <p:spPr>
          <a:xfrm>
            <a:off x="4336850" y="1240325"/>
            <a:ext cx="37440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What reviewers actually want to know</a:t>
            </a:r>
            <a:endParaRPr/>
          </a:p>
          <a:p>
            <a:pPr indent="0" lvl="0" marL="0" rtl="0" algn="l">
              <a:spcBef>
                <a:spcPts val="1200"/>
              </a:spcBef>
              <a:spcAft>
                <a:spcPts val="0"/>
              </a:spcAft>
              <a:buNone/>
            </a:pPr>
            <a:r>
              <a:rPr lang="en"/>
              <a:t>✓ Did module boundaries change?</a:t>
            </a:r>
            <a:endParaRPr/>
          </a:p>
          <a:p>
            <a:pPr indent="0" lvl="0" marL="0" rtl="0" algn="l">
              <a:spcBef>
                <a:spcPts val="1200"/>
              </a:spcBef>
              <a:spcAft>
                <a:spcPts val="0"/>
              </a:spcAft>
              <a:buNone/>
            </a:pPr>
            <a:r>
              <a:rPr lang="en"/>
              <a:t>✓ Did APIs change?</a:t>
            </a:r>
            <a:endParaRPr/>
          </a:p>
          <a:p>
            <a:pPr indent="0" lvl="0" marL="0" rtl="0" algn="l">
              <a:spcBef>
                <a:spcPts val="1200"/>
              </a:spcBef>
              <a:spcAft>
                <a:spcPts val="0"/>
              </a:spcAft>
              <a:buNone/>
            </a:pPr>
            <a:r>
              <a:rPr lang="en"/>
              <a:t>✓ Did new dependencies appear?</a:t>
            </a:r>
            <a:endParaRPr/>
          </a:p>
          <a:p>
            <a:pPr indent="0" lvl="0" marL="0" rtl="0" algn="l">
              <a:spcBef>
                <a:spcPts val="1200"/>
              </a:spcBef>
              <a:spcAft>
                <a:spcPts val="0"/>
              </a:spcAft>
              <a:buNone/>
            </a:pPr>
            <a:r>
              <a:rPr lang="en"/>
              <a:t>✓ Did security boundaries change?</a:t>
            </a:r>
            <a:endParaRPr/>
          </a:p>
          <a:p>
            <a:pPr indent="0" lvl="0" marL="0" rtl="0" algn="l">
              <a:spcBef>
                <a:spcPts val="1200"/>
              </a:spcBef>
              <a:spcAft>
                <a:spcPts val="0"/>
              </a:spcAft>
              <a:buNone/>
            </a:pPr>
            <a:r>
              <a:rPr lang="en"/>
              <a:t>✓ Is this an internal refactor?</a:t>
            </a:r>
            <a:endParaRPr/>
          </a:p>
          <a:p>
            <a:pPr indent="0" lvl="0" marL="0" rtl="0" algn="l">
              <a:spcBef>
                <a:spcPts val="1200"/>
              </a:spcBef>
              <a:spcAft>
                <a:spcPts val="1200"/>
              </a:spcAft>
              <a:buNone/>
            </a:pPr>
            <a:r>
              <a:t/>
            </a:r>
            <a:endParaRPr/>
          </a:p>
        </p:txBody>
      </p:sp>
      <p:sp>
        <p:nvSpPr>
          <p:cNvPr id="170" name="Google Shape;170;p28"/>
          <p:cNvSpPr/>
          <p:nvPr/>
        </p:nvSpPr>
        <p:spPr>
          <a:xfrm>
            <a:off x="919650" y="2387425"/>
            <a:ext cx="7164600" cy="9465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Humans review architecture, not text. AI agents generate lots of text.</a:t>
            </a:r>
            <a:endParaRPr sz="1800">
              <a:solidFill>
                <a:schemeClr val="lt1"/>
              </a:solidFill>
            </a:endParaRPr>
          </a:p>
        </p:txBody>
      </p:sp>
      <p:sp>
        <p:nvSpPr>
          <p:cNvPr id="171" name="Google Shape;17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Archon’s solution</a:t>
            </a:r>
            <a:endParaRPr/>
          </a:p>
        </p:txBody>
      </p:sp>
      <p:sp>
        <p:nvSpPr>
          <p:cNvPr id="177" name="Google Shape;177;p29"/>
          <p:cNvSpPr txBox="1"/>
          <p:nvPr>
            <p:ph idx="1" type="body"/>
          </p:nvPr>
        </p:nvSpPr>
        <p:spPr>
          <a:xfrm>
            <a:off x="505325" y="1227750"/>
            <a:ext cx="396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770"/>
              <a:buFont typeface="Arial"/>
              <a:buNone/>
            </a:pPr>
            <a:r>
              <a:rPr lang="en" sz="1560"/>
              <a:t>AI proposes change</a:t>
            </a:r>
            <a:endParaRPr sz="1560"/>
          </a:p>
          <a:p>
            <a:pPr indent="0" lvl="0" marL="457200" rtl="0" algn="l">
              <a:lnSpc>
                <a:spcPct val="95000"/>
              </a:lnSpc>
              <a:spcBef>
                <a:spcPts val="1200"/>
              </a:spcBef>
              <a:spcAft>
                <a:spcPts val="0"/>
              </a:spcAft>
              <a:buClr>
                <a:schemeClr val="dk1"/>
              </a:buClr>
              <a:buSzPts val="770"/>
              <a:buFont typeface="Arial"/>
              <a:buNone/>
            </a:pPr>
            <a:r>
              <a:rPr lang="en" sz="1560"/>
              <a:t>   </a:t>
            </a:r>
            <a:r>
              <a:rPr lang="en" sz="1560"/>
              <a:t>↓</a:t>
            </a:r>
            <a:endParaRPr sz="1560"/>
          </a:p>
          <a:p>
            <a:pPr indent="0" lvl="0" marL="0" rtl="0" algn="l">
              <a:lnSpc>
                <a:spcPct val="95000"/>
              </a:lnSpc>
              <a:spcBef>
                <a:spcPts val="1200"/>
              </a:spcBef>
              <a:spcAft>
                <a:spcPts val="0"/>
              </a:spcAft>
              <a:buClr>
                <a:schemeClr val="dk1"/>
              </a:buClr>
              <a:buSzPts val="770"/>
              <a:buFont typeface="Arial"/>
              <a:buNone/>
            </a:pPr>
            <a:r>
              <a:rPr lang="en" sz="1560"/>
              <a:t>Compute Architectural Delta</a:t>
            </a:r>
            <a:endParaRPr sz="1560"/>
          </a:p>
          <a:p>
            <a:pPr indent="0" lvl="0" marL="0" rtl="0" algn="l">
              <a:lnSpc>
                <a:spcPct val="95000"/>
              </a:lnSpc>
              <a:spcBef>
                <a:spcPts val="1200"/>
              </a:spcBef>
              <a:spcAft>
                <a:spcPts val="0"/>
              </a:spcAft>
              <a:buClr>
                <a:schemeClr val="dk1"/>
              </a:buClr>
              <a:buSzPts val="770"/>
              <a:buFont typeface="Arial"/>
              <a:buNone/>
            </a:pPr>
            <a:r>
              <a:rPr lang="en" sz="1560"/>
              <a:t>             |</a:t>
            </a:r>
            <a:endParaRPr sz="1560"/>
          </a:p>
          <a:p>
            <a:pPr indent="0" lvl="0" marL="0" rtl="0" algn="l">
              <a:lnSpc>
                <a:spcPct val="95000"/>
              </a:lnSpc>
              <a:spcBef>
                <a:spcPts val="1200"/>
              </a:spcBef>
              <a:spcAft>
                <a:spcPts val="0"/>
              </a:spcAft>
              <a:buClr>
                <a:schemeClr val="dk1"/>
              </a:buClr>
              <a:buSzPts val="770"/>
              <a:buFont typeface="Arial"/>
              <a:buNone/>
            </a:pPr>
            <a:r>
              <a:rPr lang="en" sz="1560"/>
              <a:t>     Empty boundary delta?</a:t>
            </a:r>
            <a:endParaRPr sz="1560"/>
          </a:p>
          <a:p>
            <a:pPr indent="0" lvl="0" marL="0" rtl="0" algn="l">
              <a:lnSpc>
                <a:spcPct val="95000"/>
              </a:lnSpc>
              <a:spcBef>
                <a:spcPts val="1200"/>
              </a:spcBef>
              <a:spcAft>
                <a:spcPts val="0"/>
              </a:spcAft>
              <a:buClr>
                <a:schemeClr val="dk1"/>
              </a:buClr>
              <a:buSzPts val="770"/>
              <a:buFont typeface="Arial"/>
              <a:buNone/>
            </a:pPr>
            <a:r>
              <a:rPr lang="en" sz="1560"/>
              <a:t>         /            \</a:t>
            </a:r>
            <a:endParaRPr sz="1560"/>
          </a:p>
          <a:p>
            <a:pPr indent="0" lvl="0" marL="0" rtl="0" algn="l">
              <a:lnSpc>
                <a:spcPct val="95000"/>
              </a:lnSpc>
              <a:spcBef>
                <a:spcPts val="1200"/>
              </a:spcBef>
              <a:spcAft>
                <a:spcPts val="0"/>
              </a:spcAft>
              <a:buClr>
                <a:schemeClr val="dk1"/>
              </a:buClr>
              <a:buSzPts val="770"/>
              <a:buFont typeface="Arial"/>
              <a:buNone/>
            </a:pPr>
            <a:r>
              <a:rPr lang="en" sz="1560"/>
              <a:t>       Yes            No</a:t>
            </a:r>
            <a:endParaRPr sz="1560"/>
          </a:p>
          <a:p>
            <a:pPr indent="0" lvl="0" marL="0" rtl="0" algn="l">
              <a:lnSpc>
                <a:spcPct val="95000"/>
              </a:lnSpc>
              <a:spcBef>
                <a:spcPts val="1200"/>
              </a:spcBef>
              <a:spcAft>
                <a:spcPts val="0"/>
              </a:spcAft>
              <a:buClr>
                <a:schemeClr val="dk1"/>
              </a:buClr>
              <a:buSzPts val="770"/>
              <a:buFont typeface="Arial"/>
              <a:buNone/>
            </a:pPr>
            <a:r>
              <a:rPr lang="en" sz="1560"/>
              <a:t>        |              |</a:t>
            </a:r>
            <a:endParaRPr sz="1560"/>
          </a:p>
          <a:p>
            <a:pPr indent="0" lvl="0" marL="0" rtl="0" algn="l">
              <a:lnSpc>
                <a:spcPct val="95000"/>
              </a:lnSpc>
              <a:spcBef>
                <a:spcPts val="1200"/>
              </a:spcBef>
              <a:spcAft>
                <a:spcPts val="0"/>
              </a:spcAft>
              <a:buClr>
                <a:schemeClr val="dk1"/>
              </a:buClr>
              <a:buSzPts val="770"/>
              <a:buFont typeface="Arial"/>
              <a:buNone/>
            </a:pPr>
            <a:r>
              <a:rPr lang="en" sz="1560"/>
              <a:t>Automatic          Human Review</a:t>
            </a:r>
            <a:endParaRPr sz="1560"/>
          </a:p>
          <a:p>
            <a:pPr indent="0" lvl="0" marL="0" rtl="0" algn="l">
              <a:lnSpc>
                <a:spcPct val="95000"/>
              </a:lnSpc>
              <a:spcBef>
                <a:spcPts val="1200"/>
              </a:spcBef>
              <a:spcAft>
                <a:spcPts val="1200"/>
              </a:spcAft>
              <a:buSzPts val="770"/>
              <a:buNone/>
            </a:pPr>
            <a:r>
              <a:rPr lang="en" sz="1560"/>
              <a:t>Admission          Reviews Delta</a:t>
            </a:r>
            <a:endParaRPr sz="1560"/>
          </a:p>
        </p:txBody>
      </p:sp>
      <p:sp>
        <p:nvSpPr>
          <p:cNvPr id="178" name="Google Shape;17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Archon’s solution</a:t>
            </a:r>
            <a:endParaRPr/>
          </a:p>
        </p:txBody>
      </p:sp>
      <p:sp>
        <p:nvSpPr>
          <p:cNvPr id="184" name="Google Shape;184;p30"/>
          <p:cNvSpPr txBox="1"/>
          <p:nvPr>
            <p:ph idx="1" type="body"/>
          </p:nvPr>
        </p:nvSpPr>
        <p:spPr>
          <a:xfrm>
            <a:off x="505325" y="1227750"/>
            <a:ext cx="396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1560"/>
              <a:t>AI proposes change</a:t>
            </a:r>
            <a:endParaRPr sz="1560"/>
          </a:p>
          <a:p>
            <a:pPr indent="0" lvl="0" marL="457200" rtl="0" algn="l">
              <a:lnSpc>
                <a:spcPct val="95000"/>
              </a:lnSpc>
              <a:spcBef>
                <a:spcPts val="1200"/>
              </a:spcBef>
              <a:spcAft>
                <a:spcPts val="0"/>
              </a:spcAft>
              <a:buSzPts val="770"/>
              <a:buNone/>
            </a:pPr>
            <a:r>
              <a:rPr lang="en" sz="1560"/>
              <a:t>   ↓</a:t>
            </a:r>
            <a:endParaRPr sz="1560"/>
          </a:p>
          <a:p>
            <a:pPr indent="0" lvl="0" marL="0" rtl="0" algn="l">
              <a:lnSpc>
                <a:spcPct val="95000"/>
              </a:lnSpc>
              <a:spcBef>
                <a:spcPts val="1200"/>
              </a:spcBef>
              <a:spcAft>
                <a:spcPts val="0"/>
              </a:spcAft>
              <a:buSzPts val="770"/>
              <a:buNone/>
            </a:pPr>
            <a:r>
              <a:rPr lang="en" sz="1560"/>
              <a:t>Compute Architectural Delta</a:t>
            </a:r>
            <a:endParaRPr sz="1560"/>
          </a:p>
          <a:p>
            <a:pPr indent="0" lvl="0" marL="0" rtl="0" algn="l">
              <a:lnSpc>
                <a:spcPct val="95000"/>
              </a:lnSpc>
              <a:spcBef>
                <a:spcPts val="1200"/>
              </a:spcBef>
              <a:spcAft>
                <a:spcPts val="0"/>
              </a:spcAft>
              <a:buSzPts val="770"/>
              <a:buNone/>
            </a:pPr>
            <a:r>
              <a:rPr lang="en" sz="1560"/>
              <a:t>             |</a:t>
            </a:r>
            <a:endParaRPr sz="1560"/>
          </a:p>
          <a:p>
            <a:pPr indent="0" lvl="0" marL="0" rtl="0" algn="l">
              <a:lnSpc>
                <a:spcPct val="95000"/>
              </a:lnSpc>
              <a:spcBef>
                <a:spcPts val="1200"/>
              </a:spcBef>
              <a:spcAft>
                <a:spcPts val="0"/>
              </a:spcAft>
              <a:buSzPts val="770"/>
              <a:buNone/>
            </a:pPr>
            <a:r>
              <a:rPr lang="en" sz="1560"/>
              <a:t>     Empty boundary delta?</a:t>
            </a:r>
            <a:endParaRPr sz="1560"/>
          </a:p>
          <a:p>
            <a:pPr indent="0" lvl="0" marL="0" rtl="0" algn="l">
              <a:lnSpc>
                <a:spcPct val="95000"/>
              </a:lnSpc>
              <a:spcBef>
                <a:spcPts val="1200"/>
              </a:spcBef>
              <a:spcAft>
                <a:spcPts val="0"/>
              </a:spcAft>
              <a:buSzPts val="770"/>
              <a:buNone/>
            </a:pPr>
            <a:r>
              <a:rPr lang="en" sz="1560"/>
              <a:t>         /            \</a:t>
            </a:r>
            <a:endParaRPr sz="1560"/>
          </a:p>
          <a:p>
            <a:pPr indent="0" lvl="0" marL="0" rtl="0" algn="l">
              <a:lnSpc>
                <a:spcPct val="95000"/>
              </a:lnSpc>
              <a:spcBef>
                <a:spcPts val="1200"/>
              </a:spcBef>
              <a:spcAft>
                <a:spcPts val="0"/>
              </a:spcAft>
              <a:buSzPts val="770"/>
              <a:buNone/>
            </a:pPr>
            <a:r>
              <a:rPr lang="en" sz="1560"/>
              <a:t>       Yes            No</a:t>
            </a:r>
            <a:endParaRPr sz="1560"/>
          </a:p>
          <a:p>
            <a:pPr indent="0" lvl="0" marL="0" rtl="0" algn="l">
              <a:lnSpc>
                <a:spcPct val="95000"/>
              </a:lnSpc>
              <a:spcBef>
                <a:spcPts val="1200"/>
              </a:spcBef>
              <a:spcAft>
                <a:spcPts val="0"/>
              </a:spcAft>
              <a:buSzPts val="770"/>
              <a:buNone/>
            </a:pPr>
            <a:r>
              <a:rPr lang="en" sz="1560"/>
              <a:t>        |              |</a:t>
            </a:r>
            <a:endParaRPr sz="1560"/>
          </a:p>
          <a:p>
            <a:pPr indent="0" lvl="0" marL="0" rtl="0" algn="l">
              <a:lnSpc>
                <a:spcPct val="95000"/>
              </a:lnSpc>
              <a:spcBef>
                <a:spcPts val="1200"/>
              </a:spcBef>
              <a:spcAft>
                <a:spcPts val="0"/>
              </a:spcAft>
              <a:buSzPts val="770"/>
              <a:buNone/>
            </a:pPr>
            <a:r>
              <a:rPr lang="en" sz="1560"/>
              <a:t>Automatic          Human Review</a:t>
            </a:r>
            <a:endParaRPr sz="1560"/>
          </a:p>
          <a:p>
            <a:pPr indent="0" lvl="0" marL="0" rtl="0" algn="l">
              <a:lnSpc>
                <a:spcPct val="95000"/>
              </a:lnSpc>
              <a:spcBef>
                <a:spcPts val="1200"/>
              </a:spcBef>
              <a:spcAft>
                <a:spcPts val="1200"/>
              </a:spcAft>
              <a:buSzPts val="770"/>
              <a:buNone/>
            </a:pPr>
            <a:r>
              <a:rPr lang="en" sz="1560"/>
              <a:t>Admission          Reviews Delta</a:t>
            </a:r>
            <a:endParaRPr sz="1560"/>
          </a:p>
        </p:txBody>
      </p:sp>
      <p:sp>
        <p:nvSpPr>
          <p:cNvPr id="185" name="Google Shape;185;p30"/>
          <p:cNvSpPr txBox="1"/>
          <p:nvPr>
            <p:ph idx="1" type="body"/>
          </p:nvPr>
        </p:nvSpPr>
        <p:spPr>
          <a:xfrm>
            <a:off x="4713350" y="1272575"/>
            <a:ext cx="396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sz="1560"/>
              <a:t>Instead of</a:t>
            </a:r>
            <a:endParaRPr sz="1560"/>
          </a:p>
          <a:p>
            <a:pPr indent="-327660" lvl="0" marL="457200" rtl="0" algn="l">
              <a:lnSpc>
                <a:spcPct val="95000"/>
              </a:lnSpc>
              <a:spcBef>
                <a:spcPts val="1200"/>
              </a:spcBef>
              <a:spcAft>
                <a:spcPts val="0"/>
              </a:spcAft>
              <a:buSzPts val="1560"/>
              <a:buChar char="●"/>
            </a:pPr>
            <a:r>
              <a:rPr lang="en" sz="1560"/>
              <a:t>file diff</a:t>
            </a:r>
            <a:endParaRPr sz="1560"/>
          </a:p>
          <a:p>
            <a:pPr indent="-327660" lvl="0" marL="457200" rtl="0" algn="l">
              <a:lnSpc>
                <a:spcPct val="95000"/>
              </a:lnSpc>
              <a:spcBef>
                <a:spcPts val="0"/>
              </a:spcBef>
              <a:spcAft>
                <a:spcPts val="0"/>
              </a:spcAft>
              <a:buSzPts val="1560"/>
              <a:buChar char="●"/>
            </a:pPr>
            <a:r>
              <a:rPr lang="en" sz="1560"/>
              <a:t>line diff</a:t>
            </a:r>
            <a:endParaRPr sz="1560"/>
          </a:p>
          <a:p>
            <a:pPr indent="0" lvl="0" marL="0" rtl="0" algn="l">
              <a:lnSpc>
                <a:spcPct val="95000"/>
              </a:lnSpc>
              <a:spcBef>
                <a:spcPts val="1200"/>
              </a:spcBef>
              <a:spcAft>
                <a:spcPts val="0"/>
              </a:spcAft>
              <a:buClr>
                <a:schemeClr val="dk1"/>
              </a:buClr>
              <a:buSzPts val="1100"/>
              <a:buFont typeface="Arial"/>
              <a:buNone/>
            </a:pPr>
            <a:r>
              <a:rPr lang="en" sz="1560"/>
              <a:t>ARCHON computes</a:t>
            </a:r>
            <a:endParaRPr sz="1560"/>
          </a:p>
          <a:p>
            <a:pPr indent="-327660" lvl="0" marL="457200" rtl="0" algn="l">
              <a:lnSpc>
                <a:spcPct val="95000"/>
              </a:lnSpc>
              <a:spcBef>
                <a:spcPts val="1200"/>
              </a:spcBef>
              <a:spcAft>
                <a:spcPts val="0"/>
              </a:spcAft>
              <a:buSzPts val="1560"/>
              <a:buChar char="●"/>
            </a:pPr>
            <a:r>
              <a:rPr lang="en" sz="1560"/>
              <a:t>dependency changes</a:t>
            </a:r>
            <a:endParaRPr sz="1560"/>
          </a:p>
          <a:p>
            <a:pPr indent="-327660" lvl="0" marL="457200" rtl="0" algn="l">
              <a:lnSpc>
                <a:spcPct val="95000"/>
              </a:lnSpc>
              <a:spcBef>
                <a:spcPts val="0"/>
              </a:spcBef>
              <a:spcAft>
                <a:spcPts val="0"/>
              </a:spcAft>
              <a:buSzPts val="1560"/>
              <a:buChar char="●"/>
            </a:pPr>
            <a:r>
              <a:rPr lang="en" sz="1560"/>
              <a:t>boundary changes</a:t>
            </a:r>
            <a:endParaRPr sz="1560"/>
          </a:p>
          <a:p>
            <a:pPr indent="-327660" lvl="0" marL="457200" rtl="0" algn="l">
              <a:lnSpc>
                <a:spcPct val="95000"/>
              </a:lnSpc>
              <a:spcBef>
                <a:spcPts val="0"/>
              </a:spcBef>
              <a:spcAft>
                <a:spcPts val="0"/>
              </a:spcAft>
              <a:buSzPts val="1560"/>
              <a:buChar char="●"/>
            </a:pPr>
            <a:r>
              <a:rPr lang="en" sz="1560"/>
              <a:t>contract changes</a:t>
            </a:r>
            <a:endParaRPr sz="1560"/>
          </a:p>
          <a:p>
            <a:pPr indent="0" lvl="0" marL="0" rtl="0" algn="l">
              <a:lnSpc>
                <a:spcPct val="95000"/>
              </a:lnSpc>
              <a:spcBef>
                <a:spcPts val="1200"/>
              </a:spcBef>
              <a:spcAft>
                <a:spcPts val="1200"/>
              </a:spcAft>
              <a:buSzPts val="770"/>
              <a:buNone/>
            </a:pPr>
            <a:r>
              <a:t/>
            </a:r>
            <a:endParaRPr sz="1560"/>
          </a:p>
        </p:txBody>
      </p:sp>
      <p:sp>
        <p:nvSpPr>
          <p:cNvPr id="186" name="Google Shape;18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Archon’s solution</a:t>
            </a:r>
            <a:endParaRPr/>
          </a:p>
        </p:txBody>
      </p:sp>
      <p:sp>
        <p:nvSpPr>
          <p:cNvPr id="192" name="Google Shape;192;p31"/>
          <p:cNvSpPr txBox="1"/>
          <p:nvPr>
            <p:ph idx="1" type="body"/>
          </p:nvPr>
        </p:nvSpPr>
        <p:spPr>
          <a:xfrm>
            <a:off x="505325" y="1227750"/>
            <a:ext cx="396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1560"/>
              <a:t>AI proposes change</a:t>
            </a:r>
            <a:endParaRPr sz="1560"/>
          </a:p>
          <a:p>
            <a:pPr indent="0" lvl="0" marL="457200" rtl="0" algn="l">
              <a:lnSpc>
                <a:spcPct val="95000"/>
              </a:lnSpc>
              <a:spcBef>
                <a:spcPts val="1200"/>
              </a:spcBef>
              <a:spcAft>
                <a:spcPts val="0"/>
              </a:spcAft>
              <a:buSzPts val="770"/>
              <a:buNone/>
            </a:pPr>
            <a:r>
              <a:rPr lang="en" sz="1560"/>
              <a:t>   ↓</a:t>
            </a:r>
            <a:endParaRPr sz="1560"/>
          </a:p>
          <a:p>
            <a:pPr indent="0" lvl="0" marL="0" rtl="0" algn="l">
              <a:lnSpc>
                <a:spcPct val="95000"/>
              </a:lnSpc>
              <a:spcBef>
                <a:spcPts val="1200"/>
              </a:spcBef>
              <a:spcAft>
                <a:spcPts val="0"/>
              </a:spcAft>
              <a:buSzPts val="770"/>
              <a:buNone/>
            </a:pPr>
            <a:r>
              <a:rPr lang="en" sz="1560"/>
              <a:t>Compute Architectural Delta</a:t>
            </a:r>
            <a:endParaRPr sz="1560"/>
          </a:p>
          <a:p>
            <a:pPr indent="0" lvl="0" marL="0" rtl="0" algn="l">
              <a:lnSpc>
                <a:spcPct val="95000"/>
              </a:lnSpc>
              <a:spcBef>
                <a:spcPts val="1200"/>
              </a:spcBef>
              <a:spcAft>
                <a:spcPts val="0"/>
              </a:spcAft>
              <a:buSzPts val="770"/>
              <a:buNone/>
            </a:pPr>
            <a:r>
              <a:rPr lang="en" sz="1560"/>
              <a:t>             |</a:t>
            </a:r>
            <a:endParaRPr sz="1560"/>
          </a:p>
          <a:p>
            <a:pPr indent="0" lvl="0" marL="0" rtl="0" algn="l">
              <a:lnSpc>
                <a:spcPct val="95000"/>
              </a:lnSpc>
              <a:spcBef>
                <a:spcPts val="1200"/>
              </a:spcBef>
              <a:spcAft>
                <a:spcPts val="0"/>
              </a:spcAft>
              <a:buSzPts val="770"/>
              <a:buNone/>
            </a:pPr>
            <a:r>
              <a:rPr lang="en" sz="1560"/>
              <a:t>     Empty boundary delta?</a:t>
            </a:r>
            <a:endParaRPr sz="1560"/>
          </a:p>
          <a:p>
            <a:pPr indent="0" lvl="0" marL="0" rtl="0" algn="l">
              <a:lnSpc>
                <a:spcPct val="95000"/>
              </a:lnSpc>
              <a:spcBef>
                <a:spcPts val="1200"/>
              </a:spcBef>
              <a:spcAft>
                <a:spcPts val="0"/>
              </a:spcAft>
              <a:buSzPts val="770"/>
              <a:buNone/>
            </a:pPr>
            <a:r>
              <a:rPr lang="en" sz="1560"/>
              <a:t>         /            \</a:t>
            </a:r>
            <a:endParaRPr sz="1560"/>
          </a:p>
          <a:p>
            <a:pPr indent="0" lvl="0" marL="0" rtl="0" algn="l">
              <a:lnSpc>
                <a:spcPct val="95000"/>
              </a:lnSpc>
              <a:spcBef>
                <a:spcPts val="1200"/>
              </a:spcBef>
              <a:spcAft>
                <a:spcPts val="0"/>
              </a:spcAft>
              <a:buSzPts val="770"/>
              <a:buNone/>
            </a:pPr>
            <a:r>
              <a:rPr lang="en" sz="1560"/>
              <a:t>       Yes            No</a:t>
            </a:r>
            <a:endParaRPr sz="1560"/>
          </a:p>
          <a:p>
            <a:pPr indent="0" lvl="0" marL="0" rtl="0" algn="l">
              <a:lnSpc>
                <a:spcPct val="95000"/>
              </a:lnSpc>
              <a:spcBef>
                <a:spcPts val="1200"/>
              </a:spcBef>
              <a:spcAft>
                <a:spcPts val="0"/>
              </a:spcAft>
              <a:buSzPts val="770"/>
              <a:buNone/>
            </a:pPr>
            <a:r>
              <a:rPr lang="en" sz="1560"/>
              <a:t>        |              |</a:t>
            </a:r>
            <a:endParaRPr sz="1560"/>
          </a:p>
          <a:p>
            <a:pPr indent="0" lvl="0" marL="0" rtl="0" algn="l">
              <a:lnSpc>
                <a:spcPct val="95000"/>
              </a:lnSpc>
              <a:spcBef>
                <a:spcPts val="1200"/>
              </a:spcBef>
              <a:spcAft>
                <a:spcPts val="0"/>
              </a:spcAft>
              <a:buSzPts val="770"/>
              <a:buNone/>
            </a:pPr>
            <a:r>
              <a:rPr lang="en" sz="1560"/>
              <a:t>Automatic          Human Review</a:t>
            </a:r>
            <a:endParaRPr sz="1560"/>
          </a:p>
          <a:p>
            <a:pPr indent="0" lvl="0" marL="0" rtl="0" algn="l">
              <a:lnSpc>
                <a:spcPct val="95000"/>
              </a:lnSpc>
              <a:spcBef>
                <a:spcPts val="1200"/>
              </a:spcBef>
              <a:spcAft>
                <a:spcPts val="1200"/>
              </a:spcAft>
              <a:buSzPts val="770"/>
              <a:buNone/>
            </a:pPr>
            <a:r>
              <a:rPr lang="en" sz="1560"/>
              <a:t>Admission          Reviews Delta</a:t>
            </a:r>
            <a:endParaRPr sz="1560"/>
          </a:p>
        </p:txBody>
      </p:sp>
      <p:sp>
        <p:nvSpPr>
          <p:cNvPr id="193" name="Google Shape;193;p31"/>
          <p:cNvSpPr txBox="1"/>
          <p:nvPr>
            <p:ph idx="1" type="body"/>
          </p:nvPr>
        </p:nvSpPr>
        <p:spPr>
          <a:xfrm>
            <a:off x="4713350" y="1272575"/>
            <a:ext cx="396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100"/>
              <a:buNone/>
            </a:pPr>
            <a:r>
              <a:rPr lang="en" sz="1560"/>
              <a:t>Instead of</a:t>
            </a:r>
            <a:endParaRPr sz="1560"/>
          </a:p>
          <a:p>
            <a:pPr indent="-327660" lvl="0" marL="457200" rtl="0" algn="l">
              <a:lnSpc>
                <a:spcPct val="95000"/>
              </a:lnSpc>
              <a:spcBef>
                <a:spcPts val="1200"/>
              </a:spcBef>
              <a:spcAft>
                <a:spcPts val="0"/>
              </a:spcAft>
              <a:buSzPts val="1560"/>
              <a:buChar char="●"/>
            </a:pPr>
            <a:r>
              <a:rPr lang="en" sz="1560"/>
              <a:t>file diff</a:t>
            </a:r>
            <a:endParaRPr sz="1560"/>
          </a:p>
          <a:p>
            <a:pPr indent="-327660" lvl="0" marL="457200" rtl="0" algn="l">
              <a:lnSpc>
                <a:spcPct val="95000"/>
              </a:lnSpc>
              <a:spcBef>
                <a:spcPts val="0"/>
              </a:spcBef>
              <a:spcAft>
                <a:spcPts val="0"/>
              </a:spcAft>
              <a:buSzPts val="1560"/>
              <a:buChar char="●"/>
            </a:pPr>
            <a:r>
              <a:rPr lang="en" sz="1560"/>
              <a:t>line diff</a:t>
            </a:r>
            <a:endParaRPr sz="1560"/>
          </a:p>
          <a:p>
            <a:pPr indent="0" lvl="0" marL="0" rtl="0" algn="l">
              <a:lnSpc>
                <a:spcPct val="95000"/>
              </a:lnSpc>
              <a:spcBef>
                <a:spcPts val="1200"/>
              </a:spcBef>
              <a:spcAft>
                <a:spcPts val="0"/>
              </a:spcAft>
              <a:buSzPts val="1100"/>
              <a:buNone/>
            </a:pPr>
            <a:r>
              <a:rPr lang="en" sz="1560"/>
              <a:t>ARCHON computes</a:t>
            </a:r>
            <a:endParaRPr sz="1560"/>
          </a:p>
          <a:p>
            <a:pPr indent="-327660" lvl="0" marL="457200" rtl="0" algn="l">
              <a:lnSpc>
                <a:spcPct val="95000"/>
              </a:lnSpc>
              <a:spcBef>
                <a:spcPts val="1200"/>
              </a:spcBef>
              <a:spcAft>
                <a:spcPts val="0"/>
              </a:spcAft>
              <a:buSzPts val="1560"/>
              <a:buChar char="●"/>
            </a:pPr>
            <a:r>
              <a:rPr lang="en" sz="1560"/>
              <a:t>dependency changes</a:t>
            </a:r>
            <a:endParaRPr sz="1560"/>
          </a:p>
          <a:p>
            <a:pPr indent="-327660" lvl="0" marL="457200" rtl="0" algn="l">
              <a:lnSpc>
                <a:spcPct val="95000"/>
              </a:lnSpc>
              <a:spcBef>
                <a:spcPts val="0"/>
              </a:spcBef>
              <a:spcAft>
                <a:spcPts val="0"/>
              </a:spcAft>
              <a:buSzPts val="1560"/>
              <a:buChar char="●"/>
            </a:pPr>
            <a:r>
              <a:rPr lang="en" sz="1560"/>
              <a:t>boundary changes</a:t>
            </a:r>
            <a:endParaRPr sz="1560"/>
          </a:p>
          <a:p>
            <a:pPr indent="-327660" lvl="0" marL="457200" rtl="0" algn="l">
              <a:lnSpc>
                <a:spcPct val="95000"/>
              </a:lnSpc>
              <a:spcBef>
                <a:spcPts val="0"/>
              </a:spcBef>
              <a:spcAft>
                <a:spcPts val="0"/>
              </a:spcAft>
              <a:buSzPts val="1560"/>
              <a:buChar char="●"/>
            </a:pPr>
            <a:r>
              <a:rPr lang="en" sz="1560"/>
              <a:t>contract changes</a:t>
            </a:r>
            <a:endParaRPr sz="1560"/>
          </a:p>
          <a:p>
            <a:pPr indent="0" lvl="0" marL="0" rtl="0" algn="l">
              <a:lnSpc>
                <a:spcPct val="95000"/>
              </a:lnSpc>
              <a:spcBef>
                <a:spcPts val="1200"/>
              </a:spcBef>
              <a:spcAft>
                <a:spcPts val="1200"/>
              </a:spcAft>
              <a:buSzPts val="770"/>
              <a:buNone/>
            </a:pPr>
            <a:r>
              <a:t/>
            </a:r>
            <a:endParaRPr sz="1560"/>
          </a:p>
        </p:txBody>
      </p:sp>
      <p:sp>
        <p:nvSpPr>
          <p:cNvPr id="194" name="Google Shape;194;p31"/>
          <p:cNvSpPr/>
          <p:nvPr/>
        </p:nvSpPr>
        <p:spPr>
          <a:xfrm>
            <a:off x="919650" y="2387425"/>
            <a:ext cx="7164600" cy="9465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rPr>
              <a:t>The architectural delta becomes the primary review artifact.</a:t>
            </a:r>
            <a:endParaRPr sz="1800">
              <a:solidFill>
                <a:schemeClr val="lt1"/>
              </a:solidFill>
            </a:endParaRPr>
          </a:p>
        </p:txBody>
      </p:sp>
      <p:sp>
        <p:nvSpPr>
          <p:cNvPr id="195" name="Google Shape;19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a:t>
            </a:r>
            <a:endParaRPr/>
          </a:p>
        </p:txBody>
      </p:sp>
      <p:sp>
        <p:nvSpPr>
          <p:cNvPr id="201" name="Google Shape;20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b="1" lang="en"/>
              <a:t>Better code review</a:t>
            </a:r>
            <a:endParaRPr b="1"/>
          </a:p>
          <a:p>
            <a:pPr indent="-317183" lvl="0" marL="457200" rtl="0" algn="l">
              <a:spcBef>
                <a:spcPts val="1200"/>
              </a:spcBef>
              <a:spcAft>
                <a:spcPts val="0"/>
              </a:spcAft>
              <a:buSzPct val="100000"/>
              <a:buChar char="●"/>
            </a:pPr>
            <a:r>
              <a:rPr lang="en"/>
              <a:t>Review architectural intent instead of thousands of changed lines.</a:t>
            </a:r>
            <a:endParaRPr/>
          </a:p>
          <a:p>
            <a:pPr indent="0" lvl="0" marL="0" rtl="0" algn="l">
              <a:spcBef>
                <a:spcPts val="1200"/>
              </a:spcBef>
              <a:spcAft>
                <a:spcPts val="0"/>
              </a:spcAft>
              <a:buClr>
                <a:schemeClr val="dk1"/>
              </a:buClr>
              <a:buSzPct val="61111"/>
              <a:buFont typeface="Arial"/>
              <a:buNone/>
            </a:pPr>
            <a:r>
              <a:rPr b="1" lang="en"/>
              <a:t>Living documentation</a:t>
            </a:r>
            <a:endParaRPr b="1"/>
          </a:p>
          <a:p>
            <a:pPr indent="-317183" lvl="0" marL="457200" rtl="0" algn="l">
              <a:spcBef>
                <a:spcPts val="1200"/>
              </a:spcBef>
              <a:spcAft>
                <a:spcPts val="0"/>
              </a:spcAft>
              <a:buSzPct val="100000"/>
              <a:buChar char="●"/>
            </a:pPr>
            <a:r>
              <a:rPr lang="en"/>
              <a:t>Architecture diagrams are generated from code.</a:t>
            </a:r>
            <a:endParaRPr/>
          </a:p>
          <a:p>
            <a:pPr indent="-317183" lvl="0" marL="457200" rtl="0" algn="l">
              <a:spcBef>
                <a:spcPts val="0"/>
              </a:spcBef>
              <a:spcAft>
                <a:spcPts val="0"/>
              </a:spcAft>
              <a:buSzPct val="100000"/>
              <a:buChar char="●"/>
            </a:pPr>
            <a:r>
              <a:rPr lang="en"/>
              <a:t>No documentation drift.</a:t>
            </a:r>
            <a:endParaRPr/>
          </a:p>
          <a:p>
            <a:pPr indent="0" lvl="0" marL="0" rtl="0" algn="l">
              <a:spcBef>
                <a:spcPts val="1200"/>
              </a:spcBef>
              <a:spcAft>
                <a:spcPts val="0"/>
              </a:spcAft>
              <a:buNone/>
            </a:pPr>
            <a:r>
              <a:rPr b="1" lang="en"/>
              <a:t>Continuous conformance</a:t>
            </a:r>
            <a:endParaRPr b="1"/>
          </a:p>
          <a:p>
            <a:pPr indent="-317183" lvl="0" marL="457200" rtl="0" algn="l">
              <a:spcBef>
                <a:spcPts val="1200"/>
              </a:spcBef>
              <a:spcAft>
                <a:spcPts val="0"/>
              </a:spcAft>
              <a:buSzPct val="100000"/>
              <a:buChar char="●"/>
            </a:pPr>
            <a:r>
              <a:rPr lang="en"/>
              <a:t>Architectural policies checked every commit.</a:t>
            </a:r>
            <a:endParaRPr/>
          </a:p>
          <a:p>
            <a:pPr indent="-317183" lvl="0" marL="457200" rtl="0" algn="l">
              <a:spcBef>
                <a:spcPts val="0"/>
              </a:spcBef>
              <a:spcAft>
                <a:spcPts val="0"/>
              </a:spcAft>
              <a:buSzPct val="100000"/>
              <a:buChar char="●"/>
            </a:pPr>
            <a:r>
              <a:rPr lang="en"/>
              <a:t>Detect violations immediately.</a:t>
            </a:r>
            <a:endParaRPr/>
          </a:p>
          <a:p>
            <a:pPr indent="0" lvl="0" marL="0" rtl="0" algn="l">
              <a:spcBef>
                <a:spcPts val="1200"/>
              </a:spcBef>
              <a:spcAft>
                <a:spcPts val="0"/>
              </a:spcAft>
              <a:buNone/>
            </a:pPr>
            <a:r>
              <a:rPr b="1" lang="en"/>
              <a:t>Safe autonomous development</a:t>
            </a:r>
            <a:endParaRPr b="1"/>
          </a:p>
          <a:p>
            <a:pPr indent="-317183" lvl="0" marL="457200" rtl="0" algn="l">
              <a:spcBef>
                <a:spcPts val="1200"/>
              </a:spcBef>
              <a:spcAft>
                <a:spcPts val="0"/>
              </a:spcAft>
              <a:buSzPct val="100000"/>
              <a:buChar char="●"/>
            </a:pPr>
            <a:r>
              <a:rPr lang="en"/>
              <a:t>AI agents can evolve implementations while respecting architectural boundaries.</a:t>
            </a:r>
            <a:endParaRPr/>
          </a:p>
        </p:txBody>
      </p:sp>
      <p:sp>
        <p:nvSpPr>
          <p:cNvPr id="202" name="Google Shape;20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208" name="Google Shape;20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make architectural change first-class and reviewable</a:t>
            </a:r>
            <a:endParaRPr/>
          </a:p>
          <a:p>
            <a:pPr indent="0" lvl="0" marL="0" rtl="0" algn="l">
              <a:spcBef>
                <a:spcPts val="1200"/>
              </a:spcBef>
              <a:spcAft>
                <a:spcPts val="0"/>
              </a:spcAft>
              <a:buNone/>
            </a:pPr>
            <a:r>
              <a:rPr lang="en"/>
              <a:t>(2) keep documentation from drifting</a:t>
            </a:r>
            <a:endParaRPr/>
          </a:p>
          <a:p>
            <a:pPr indent="0" lvl="0" marL="0" rtl="0" algn="l">
              <a:spcBef>
                <a:spcPts val="1200"/>
              </a:spcBef>
              <a:spcAft>
                <a:spcPts val="0"/>
              </a:spcAft>
              <a:buNone/>
            </a:pPr>
            <a:r>
              <a:rPr lang="en"/>
              <a:t>(3) give agents a checkable boundary for safe autonomy</a:t>
            </a:r>
            <a:endParaRPr/>
          </a:p>
          <a:p>
            <a:pPr indent="0" lvl="0" marL="0" rtl="0" algn="l">
              <a:spcBef>
                <a:spcPts val="1200"/>
              </a:spcBef>
              <a:spcAft>
                <a:spcPts val="1200"/>
              </a:spcAft>
              <a:buNone/>
            </a:pPr>
            <a:r>
              <a:rPr lang="en"/>
              <a:t>(4) work on messy brownfield repos, not just clean greenfield.</a:t>
            </a:r>
            <a:endParaRPr/>
          </a:p>
        </p:txBody>
      </p:sp>
      <p:sp>
        <p:nvSpPr>
          <p:cNvPr id="209" name="Google Shape;20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concrete: what would the graph look like</a:t>
            </a:r>
            <a:endParaRPr/>
          </a:p>
        </p:txBody>
      </p:sp>
      <p:sp>
        <p:nvSpPr>
          <p:cNvPr id="215" name="Google Shape;21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1111"/>
              <a:buFont typeface="Arial"/>
              <a:buNone/>
            </a:pPr>
            <a:r>
              <a:rPr lang="en"/>
              <a:t>Repository</a:t>
            </a:r>
            <a:endParaRPr/>
          </a:p>
          <a:p>
            <a:pPr indent="0" lvl="0" marL="0" rtl="0" algn="l">
              <a:spcBef>
                <a:spcPts val="1200"/>
              </a:spcBef>
              <a:spcAft>
                <a:spcPts val="0"/>
              </a:spcAft>
              <a:buClr>
                <a:schemeClr val="dk1"/>
              </a:buClr>
              <a:buSzPct val="61111"/>
              <a:buFont typeface="Arial"/>
              <a:buNone/>
            </a:pPr>
            <a:r>
              <a:rPr lang="en"/>
              <a:t> ├── package: api</a:t>
            </a:r>
            <a:endParaRPr/>
          </a:p>
          <a:p>
            <a:pPr indent="0" lvl="0" marL="0" rtl="0" algn="l">
              <a:spcBef>
                <a:spcPts val="1200"/>
              </a:spcBef>
              <a:spcAft>
                <a:spcPts val="0"/>
              </a:spcAft>
              <a:buClr>
                <a:schemeClr val="dk1"/>
              </a:buClr>
              <a:buSzPct val="61111"/>
              <a:buFont typeface="Arial"/>
              <a:buNone/>
            </a:pPr>
            <a:r>
              <a:rPr lang="en"/>
              <a:t> │    ├── module: routes.py</a:t>
            </a:r>
            <a:endParaRPr/>
          </a:p>
          <a:p>
            <a:pPr indent="0" lvl="0" marL="0" rtl="0" algn="l">
              <a:spcBef>
                <a:spcPts val="1200"/>
              </a:spcBef>
              <a:spcAft>
                <a:spcPts val="0"/>
              </a:spcAft>
              <a:buClr>
                <a:schemeClr val="dk1"/>
              </a:buClr>
              <a:buSzPct val="61111"/>
              <a:buFont typeface="Arial"/>
              <a:buNone/>
            </a:pPr>
            <a:r>
              <a:rPr lang="en"/>
              <a:t> │    ├── function: create_user()</a:t>
            </a:r>
            <a:endParaRPr/>
          </a:p>
          <a:p>
            <a:pPr indent="0" lvl="0" marL="0" rtl="0" algn="l">
              <a:spcBef>
                <a:spcPts val="1200"/>
              </a:spcBef>
              <a:spcAft>
                <a:spcPts val="0"/>
              </a:spcAft>
              <a:buClr>
                <a:schemeClr val="dk1"/>
              </a:buClr>
              <a:buSzPct val="61111"/>
              <a:buFont typeface="Arial"/>
              <a:buNone/>
            </a:pPr>
            <a:r>
              <a:rPr lang="en"/>
              <a:t> │    └── endpoint: POST /users</a:t>
            </a:r>
            <a:endParaRPr/>
          </a:p>
          <a:p>
            <a:pPr indent="0" lvl="0" marL="0" rtl="0" algn="l">
              <a:spcBef>
                <a:spcPts val="1200"/>
              </a:spcBef>
              <a:spcAft>
                <a:spcPts val="0"/>
              </a:spcAft>
              <a:buClr>
                <a:schemeClr val="dk1"/>
              </a:buClr>
              <a:buSzPct val="61111"/>
              <a:buFont typeface="Arial"/>
              <a:buNone/>
            </a:pPr>
            <a:r>
              <a:rPr lang="en"/>
              <a:t> ├── package: auth</a:t>
            </a:r>
            <a:endParaRPr/>
          </a:p>
          <a:p>
            <a:pPr indent="0" lvl="0" marL="0" rtl="0" algn="l">
              <a:spcBef>
                <a:spcPts val="1200"/>
              </a:spcBef>
              <a:spcAft>
                <a:spcPts val="0"/>
              </a:spcAft>
              <a:buClr>
                <a:schemeClr val="dk1"/>
              </a:buClr>
              <a:buSzPct val="61111"/>
              <a:buFont typeface="Arial"/>
              <a:buNone/>
            </a:pPr>
            <a:r>
              <a:rPr lang="en"/>
              <a:t> │    ├── module: jwt.py</a:t>
            </a:r>
            <a:endParaRPr/>
          </a:p>
          <a:p>
            <a:pPr indent="0" lvl="0" marL="0" rtl="0" algn="l">
              <a:spcBef>
                <a:spcPts val="1200"/>
              </a:spcBef>
              <a:spcAft>
                <a:spcPts val="0"/>
              </a:spcAft>
              <a:buClr>
                <a:schemeClr val="dk1"/>
              </a:buClr>
              <a:buSzPct val="61111"/>
              <a:buFont typeface="Arial"/>
              <a:buNone/>
            </a:pPr>
            <a:r>
              <a:rPr lang="en"/>
              <a:t> │    └── function: verify_token()</a:t>
            </a:r>
            <a:endParaRPr/>
          </a:p>
          <a:p>
            <a:pPr indent="0" lvl="0" marL="0" rtl="0" algn="l">
              <a:spcBef>
                <a:spcPts val="1200"/>
              </a:spcBef>
              <a:spcAft>
                <a:spcPts val="0"/>
              </a:spcAft>
              <a:buClr>
                <a:schemeClr val="dk1"/>
              </a:buClr>
              <a:buSzPct val="61111"/>
              <a:buFont typeface="Arial"/>
              <a:buNone/>
            </a:pPr>
            <a:r>
              <a:rPr lang="en"/>
              <a:t> ├── package: db</a:t>
            </a:r>
            <a:endParaRPr/>
          </a:p>
          <a:p>
            <a:pPr indent="0" lvl="0" marL="0" rtl="0" algn="l">
              <a:spcBef>
                <a:spcPts val="1200"/>
              </a:spcBef>
              <a:spcAft>
                <a:spcPts val="0"/>
              </a:spcAft>
              <a:buClr>
                <a:schemeClr val="dk1"/>
              </a:buClr>
              <a:buSzPct val="61111"/>
              <a:buFont typeface="Arial"/>
              <a:buNone/>
            </a:pPr>
            <a:r>
              <a:rPr lang="en"/>
              <a:t> │    └── table/model: User</a:t>
            </a:r>
            <a:endParaRPr/>
          </a:p>
          <a:p>
            <a:pPr indent="0" lvl="0" marL="0" rtl="0" algn="l">
              <a:spcBef>
                <a:spcPts val="1200"/>
              </a:spcBef>
              <a:spcAft>
                <a:spcPts val="1200"/>
              </a:spcAft>
              <a:buNone/>
            </a:pPr>
            <a:r>
              <a:rPr lang="en"/>
              <a:t> └── config: settings.yaml</a:t>
            </a:r>
            <a:endParaRPr/>
          </a:p>
        </p:txBody>
      </p:sp>
      <p:sp>
        <p:nvSpPr>
          <p:cNvPr id="216" name="Google Shape;21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concrete: what would nodes look like</a:t>
            </a:r>
            <a:endParaRPr/>
          </a:p>
        </p:txBody>
      </p:sp>
      <p:sp>
        <p:nvSpPr>
          <p:cNvPr id="222" name="Google Shape;22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repo</a:t>
            </a:r>
            <a:endParaRPr/>
          </a:p>
          <a:p>
            <a:pPr indent="-325755" lvl="0" marL="457200" rtl="0" algn="l">
              <a:spcBef>
                <a:spcPts val="0"/>
              </a:spcBef>
              <a:spcAft>
                <a:spcPts val="0"/>
              </a:spcAft>
              <a:buSzPct val="100000"/>
              <a:buChar char="●"/>
            </a:pPr>
            <a:r>
              <a:rPr lang="en"/>
              <a:t>package</a:t>
            </a:r>
            <a:endParaRPr/>
          </a:p>
          <a:p>
            <a:pPr indent="-325755" lvl="0" marL="457200" rtl="0" algn="l">
              <a:spcBef>
                <a:spcPts val="0"/>
              </a:spcBef>
              <a:spcAft>
                <a:spcPts val="0"/>
              </a:spcAft>
              <a:buSzPct val="100000"/>
              <a:buChar char="●"/>
            </a:pPr>
            <a:r>
              <a:rPr lang="en"/>
              <a:t>module/file</a:t>
            </a:r>
            <a:endParaRPr/>
          </a:p>
          <a:p>
            <a:pPr indent="-325755" lvl="0" marL="457200" rtl="0" algn="l">
              <a:spcBef>
                <a:spcPts val="0"/>
              </a:spcBef>
              <a:spcAft>
                <a:spcPts val="0"/>
              </a:spcAft>
              <a:buSzPct val="100000"/>
              <a:buChar char="●"/>
            </a:pPr>
            <a:r>
              <a:rPr lang="en"/>
              <a:t>class</a:t>
            </a:r>
            <a:endParaRPr/>
          </a:p>
          <a:p>
            <a:pPr indent="-325755" lvl="0" marL="457200" rtl="0" algn="l">
              <a:spcBef>
                <a:spcPts val="0"/>
              </a:spcBef>
              <a:spcAft>
                <a:spcPts val="0"/>
              </a:spcAft>
              <a:buSzPct val="100000"/>
              <a:buChar char="●"/>
            </a:pPr>
            <a:r>
              <a:rPr lang="en"/>
              <a:t>function</a:t>
            </a:r>
            <a:endParaRPr/>
          </a:p>
          <a:p>
            <a:pPr indent="-325755" lvl="0" marL="457200" rtl="0" algn="l">
              <a:spcBef>
                <a:spcPts val="0"/>
              </a:spcBef>
              <a:spcAft>
                <a:spcPts val="0"/>
              </a:spcAft>
              <a:buSzPct val="100000"/>
              <a:buChar char="●"/>
            </a:pPr>
            <a:r>
              <a:rPr lang="en"/>
              <a:t>API endpoint</a:t>
            </a:r>
            <a:endParaRPr/>
          </a:p>
          <a:p>
            <a:pPr indent="-325755" lvl="0" marL="457200" rtl="0" algn="l">
              <a:spcBef>
                <a:spcPts val="0"/>
              </a:spcBef>
              <a:spcAft>
                <a:spcPts val="0"/>
              </a:spcAft>
              <a:buSzPct val="100000"/>
              <a:buChar char="●"/>
            </a:pPr>
            <a:r>
              <a:rPr lang="en"/>
              <a:t>config key</a:t>
            </a:r>
            <a:endParaRPr/>
          </a:p>
          <a:p>
            <a:pPr indent="-325755" lvl="0" marL="457200" rtl="0" algn="l">
              <a:spcBef>
                <a:spcPts val="0"/>
              </a:spcBef>
              <a:spcAft>
                <a:spcPts val="0"/>
              </a:spcAft>
              <a:buSzPct val="100000"/>
              <a:buChar char="●"/>
            </a:pPr>
            <a:r>
              <a:rPr lang="en"/>
              <a:t>database table</a:t>
            </a:r>
            <a:endParaRPr/>
          </a:p>
          <a:p>
            <a:pPr indent="-325755" lvl="0" marL="457200" rtl="0" algn="l">
              <a:spcBef>
                <a:spcPts val="0"/>
              </a:spcBef>
              <a:spcAft>
                <a:spcPts val="0"/>
              </a:spcAft>
              <a:buSzPct val="100000"/>
              <a:buChar char="●"/>
            </a:pPr>
            <a:r>
              <a:rPr lang="en"/>
              <a:t>queue/topic</a:t>
            </a:r>
            <a:endParaRPr/>
          </a:p>
          <a:p>
            <a:pPr indent="-325755" lvl="0" marL="457200" rtl="0" algn="l">
              <a:spcBef>
                <a:spcPts val="0"/>
              </a:spcBef>
              <a:spcAft>
                <a:spcPts val="0"/>
              </a:spcAft>
              <a:buSzPct val="100000"/>
              <a:buChar char="●"/>
            </a:pPr>
            <a:r>
              <a:rPr lang="en"/>
              <a:t>metric</a:t>
            </a:r>
            <a:endParaRPr/>
          </a:p>
          <a:p>
            <a:pPr indent="-325755" lvl="0" marL="457200" rtl="0" algn="l">
              <a:spcBef>
                <a:spcPts val="0"/>
              </a:spcBef>
              <a:spcAft>
                <a:spcPts val="0"/>
              </a:spcAft>
              <a:buSzPct val="100000"/>
              <a:buChar char="●"/>
            </a:pPr>
            <a:r>
              <a:rPr lang="en"/>
              <a:t>trace span</a:t>
            </a:r>
            <a:endParaRPr/>
          </a:p>
          <a:p>
            <a:pPr indent="-325755" lvl="0" marL="457200" rtl="0" algn="l">
              <a:spcBef>
                <a:spcPts val="0"/>
              </a:spcBef>
              <a:spcAft>
                <a:spcPts val="0"/>
              </a:spcAft>
              <a:buSzPct val="100000"/>
              <a:buChar char="●"/>
            </a:pPr>
            <a:r>
              <a:rPr lang="en"/>
              <a:t>external service</a:t>
            </a:r>
            <a:endParaRPr/>
          </a:p>
          <a:p>
            <a:pPr indent="-325755" lvl="0" marL="457200" rtl="0" algn="l">
              <a:spcBef>
                <a:spcPts val="0"/>
              </a:spcBef>
              <a:spcAft>
                <a:spcPts val="0"/>
              </a:spcAft>
              <a:buSzPct val="100000"/>
              <a:buChar char="●"/>
            </a:pPr>
            <a:r>
              <a:rPr lang="en"/>
              <a:t>permission/capability</a:t>
            </a:r>
            <a:endParaRPr/>
          </a:p>
          <a:p>
            <a:pPr indent="-325755" lvl="0" marL="457200" rtl="0" algn="l">
              <a:spcBef>
                <a:spcPts val="0"/>
              </a:spcBef>
              <a:spcAft>
                <a:spcPts val="0"/>
              </a:spcAft>
              <a:buSzPct val="100000"/>
              <a:buChar char="●"/>
            </a:pPr>
            <a:r>
              <a:rPr lang="en"/>
              <a:t>runtime platform</a:t>
            </a:r>
            <a:endParaRPr/>
          </a:p>
        </p:txBody>
      </p:sp>
      <p:sp>
        <p:nvSpPr>
          <p:cNvPr id="223" name="Google Shape;22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edges</a:t>
            </a:r>
            <a:endParaRPr/>
          </a:p>
        </p:txBody>
      </p:sp>
      <p:sp>
        <p:nvSpPr>
          <p:cNvPr id="229" name="Google Shape;22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api.routes </a:t>
            </a:r>
            <a:r>
              <a:rPr lang="en">
                <a:solidFill>
                  <a:srgbClr val="FF0000"/>
                </a:solidFill>
              </a:rPr>
              <a:t>imports</a:t>
            </a:r>
            <a:r>
              <a:rPr lang="en"/>
              <a:t> auth.jwt</a:t>
            </a:r>
            <a:endParaRPr/>
          </a:p>
          <a:p>
            <a:pPr indent="0" lvl="0" marL="0" rtl="0" algn="l">
              <a:spcBef>
                <a:spcPts val="1200"/>
              </a:spcBef>
              <a:spcAft>
                <a:spcPts val="0"/>
              </a:spcAft>
              <a:buClr>
                <a:schemeClr val="dk1"/>
              </a:buClr>
              <a:buSzPts val="1100"/>
              <a:buFont typeface="Arial"/>
              <a:buNone/>
            </a:pPr>
            <a:r>
              <a:rPr lang="en"/>
              <a:t>api.create_user </a:t>
            </a:r>
            <a:r>
              <a:rPr lang="en">
                <a:solidFill>
                  <a:srgbClr val="FF0000"/>
                </a:solidFill>
              </a:rPr>
              <a:t>calls</a:t>
            </a:r>
            <a:r>
              <a:rPr lang="en"/>
              <a:t> auth.verify_token</a:t>
            </a:r>
            <a:endParaRPr/>
          </a:p>
          <a:p>
            <a:pPr indent="0" lvl="0" marL="0" rtl="0" algn="l">
              <a:spcBef>
                <a:spcPts val="1200"/>
              </a:spcBef>
              <a:spcAft>
                <a:spcPts val="0"/>
              </a:spcAft>
              <a:buClr>
                <a:schemeClr val="dk1"/>
              </a:buClr>
              <a:buSzPts val="1100"/>
              <a:buFont typeface="Arial"/>
              <a:buNone/>
            </a:pPr>
            <a:r>
              <a:rPr lang="en"/>
              <a:t>api.create_user </a:t>
            </a:r>
            <a:r>
              <a:rPr lang="en">
                <a:solidFill>
                  <a:srgbClr val="FF0000"/>
                </a:solidFill>
              </a:rPr>
              <a:t>reads</a:t>
            </a:r>
            <a:r>
              <a:rPr lang="en"/>
              <a:t> config.DB_URL</a:t>
            </a:r>
            <a:endParaRPr/>
          </a:p>
          <a:p>
            <a:pPr indent="0" lvl="0" marL="0" rtl="0" algn="l">
              <a:spcBef>
                <a:spcPts val="1200"/>
              </a:spcBef>
              <a:spcAft>
                <a:spcPts val="0"/>
              </a:spcAft>
              <a:buClr>
                <a:schemeClr val="dk1"/>
              </a:buClr>
              <a:buSzPts val="1100"/>
              <a:buFont typeface="Arial"/>
              <a:buNone/>
            </a:pPr>
            <a:r>
              <a:rPr lang="en"/>
              <a:t>api.create_user </a:t>
            </a:r>
            <a:r>
              <a:rPr lang="en">
                <a:solidFill>
                  <a:srgbClr val="FF0000"/>
                </a:solidFill>
              </a:rPr>
              <a:t>writes</a:t>
            </a:r>
            <a:r>
              <a:rPr lang="en"/>
              <a:t> db.User</a:t>
            </a:r>
            <a:endParaRPr/>
          </a:p>
          <a:p>
            <a:pPr indent="0" lvl="0" marL="0" rtl="0" algn="l">
              <a:spcBef>
                <a:spcPts val="1200"/>
              </a:spcBef>
              <a:spcAft>
                <a:spcPts val="1200"/>
              </a:spcAft>
              <a:buNone/>
            </a:pPr>
            <a:r>
              <a:t/>
            </a:r>
            <a:endParaRPr/>
          </a:p>
        </p:txBody>
      </p:sp>
      <p:sp>
        <p:nvSpPr>
          <p:cNvPr id="230" name="Google Shape;23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One issue: some edges might only appear when the system runs</a:t>
            </a:r>
            <a:endParaRPr sz="2220"/>
          </a:p>
        </p:txBody>
      </p:sp>
      <p:sp>
        <p:nvSpPr>
          <p:cNvPr id="236" name="Google Shape;236;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Examples:</a:t>
            </a:r>
            <a:endParaRPr/>
          </a:p>
          <a:p>
            <a:pPr indent="-342900" lvl="0" marL="457200" rtl="0" algn="l">
              <a:spcBef>
                <a:spcPts val="1200"/>
              </a:spcBef>
              <a:spcAft>
                <a:spcPts val="0"/>
              </a:spcAft>
              <a:buSzPts val="1800"/>
              <a:buAutoNum type="arabicPeriod"/>
            </a:pPr>
            <a:r>
              <a:rPr lang="en"/>
              <a:t>Actual external services contacted (eg Stripe authentication)</a:t>
            </a:r>
            <a:endParaRPr/>
          </a:p>
          <a:p>
            <a:pPr indent="-342900" lvl="0" marL="457200" rtl="0" algn="l">
              <a:spcBef>
                <a:spcPts val="0"/>
              </a:spcBef>
              <a:spcAft>
                <a:spcPts val="0"/>
              </a:spcAft>
              <a:buSzPts val="1800"/>
              <a:buAutoNum type="arabicPeriod"/>
            </a:pPr>
            <a:r>
              <a:rPr lang="en"/>
              <a:t>Dynamically loaded plugins/modules</a:t>
            </a:r>
            <a:endParaRPr/>
          </a:p>
          <a:p>
            <a:pPr indent="-342900" lvl="0" marL="457200" rtl="0" algn="l">
              <a:spcBef>
                <a:spcPts val="0"/>
              </a:spcBef>
              <a:spcAft>
                <a:spcPts val="0"/>
              </a:spcAft>
              <a:buSzPts val="1800"/>
              <a:buAutoNum type="arabicPeriod"/>
            </a:pPr>
            <a:r>
              <a:rPr lang="en"/>
              <a:t>Runtime network communication</a:t>
            </a:r>
            <a:endParaRPr/>
          </a:p>
          <a:p>
            <a:pPr indent="-342900" lvl="0" marL="457200" rtl="0" algn="l">
              <a:spcBef>
                <a:spcPts val="0"/>
              </a:spcBef>
              <a:spcAft>
                <a:spcPts val="0"/>
              </a:spcAft>
              <a:buSzPts val="1800"/>
              <a:buAutoNum type="arabicPeriod"/>
            </a:pPr>
            <a:r>
              <a:rPr lang="en"/>
              <a:t>Database connections</a:t>
            </a:r>
            <a:endParaRPr/>
          </a:p>
          <a:p>
            <a:pPr indent="-342900" lvl="0" marL="457200" rtl="0" algn="l">
              <a:spcBef>
                <a:spcPts val="0"/>
              </a:spcBef>
              <a:spcAft>
                <a:spcPts val="0"/>
              </a:spcAft>
              <a:buSzPts val="1800"/>
              <a:buAutoNum type="arabicPeriod"/>
            </a:pPr>
            <a:r>
              <a:rPr lang="en"/>
              <a:t>Distributed trace interactions</a:t>
            </a:r>
            <a:endParaRPr/>
          </a:p>
          <a:p>
            <a:pPr indent="0" lvl="0" marL="0" rtl="0" algn="l">
              <a:spcBef>
                <a:spcPts val="1200"/>
              </a:spcBef>
              <a:spcAft>
                <a:spcPts val="1200"/>
              </a:spcAft>
              <a:buNone/>
            </a:pPr>
            <a:r>
              <a:t/>
            </a:r>
            <a:endParaRPr/>
          </a:p>
        </p:txBody>
      </p:sp>
      <p:sp>
        <p:nvSpPr>
          <p:cNvPr id="237" name="Google Shape;23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Related work (1) ArchUnit / import-linter</a:t>
            </a:r>
            <a:endParaRPr/>
          </a:p>
        </p:txBody>
      </p:sp>
      <p:sp>
        <p:nvSpPr>
          <p:cNvPr id="243" name="Google Shape;24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What they do</a:t>
            </a:r>
            <a:endParaRPr/>
          </a:p>
          <a:p>
            <a:pPr indent="-342900" lvl="0" marL="457200" rtl="0" algn="l">
              <a:spcBef>
                <a:spcPts val="1200"/>
              </a:spcBef>
              <a:spcAft>
                <a:spcPts val="0"/>
              </a:spcAft>
              <a:buSzPts val="1800"/>
              <a:buChar char="●"/>
            </a:pPr>
            <a:r>
              <a:rPr lang="en"/>
              <a:t>Developers manually define architecture rules</a:t>
            </a:r>
            <a:endParaRPr/>
          </a:p>
          <a:p>
            <a:pPr indent="-342900" lvl="0" marL="457200" rtl="0" algn="l">
              <a:spcBef>
                <a:spcPts val="0"/>
              </a:spcBef>
              <a:spcAft>
                <a:spcPts val="0"/>
              </a:spcAft>
              <a:buSzPts val="1800"/>
              <a:buChar char="●"/>
            </a:pPr>
            <a:r>
              <a:rPr lang="en"/>
              <a:t>Every commit is checked against those rules</a:t>
            </a:r>
            <a:endParaRPr/>
          </a:p>
          <a:p>
            <a:pPr indent="-342900" lvl="0" marL="457200" rtl="0" algn="l">
              <a:spcBef>
                <a:spcPts val="0"/>
              </a:spcBef>
              <a:spcAft>
                <a:spcPts val="0"/>
              </a:spcAft>
              <a:buSzPts val="1800"/>
              <a:buChar char="●"/>
            </a:pPr>
            <a:r>
              <a:rPr lang="en"/>
              <a:t>The build passes or fails depending on whether the rules are violated</a:t>
            </a:r>
            <a:endParaRPr/>
          </a:p>
          <a:p>
            <a:pPr indent="0" lvl="0" marL="0" rtl="0" algn="l">
              <a:spcBef>
                <a:spcPts val="1200"/>
              </a:spcBef>
              <a:spcAft>
                <a:spcPts val="0"/>
              </a:spcAft>
              <a:buClr>
                <a:schemeClr val="dk1"/>
              </a:buClr>
              <a:buSzPts val="1100"/>
              <a:buFont typeface="Arial"/>
              <a:buNone/>
            </a:pPr>
            <a:r>
              <a:rPr lang="en"/>
              <a:t>How ARCHON is different</a:t>
            </a:r>
            <a:endParaRPr/>
          </a:p>
          <a:p>
            <a:pPr indent="-342900" lvl="0" marL="457200" rtl="0" algn="l">
              <a:spcBef>
                <a:spcPts val="1200"/>
              </a:spcBef>
              <a:spcAft>
                <a:spcPts val="0"/>
              </a:spcAft>
              <a:buSzPts val="1800"/>
              <a:buChar char="●"/>
            </a:pPr>
            <a:r>
              <a:rPr lang="en"/>
              <a:t>No need to manually define the architecture</a:t>
            </a:r>
            <a:endParaRPr/>
          </a:p>
          <a:p>
            <a:pPr indent="-342900" lvl="0" marL="457200" rtl="0" algn="l">
              <a:spcBef>
                <a:spcPts val="0"/>
              </a:spcBef>
              <a:spcAft>
                <a:spcPts val="0"/>
              </a:spcAft>
              <a:buSzPts val="1800"/>
              <a:buChar char="●"/>
            </a:pPr>
            <a:r>
              <a:rPr lang="en"/>
              <a:t>Automatically derives the architecture from the codebase</a:t>
            </a:r>
            <a:endParaRPr/>
          </a:p>
          <a:p>
            <a:pPr indent="-342900" lvl="0" marL="457200" rtl="0" algn="l">
              <a:spcBef>
                <a:spcPts val="0"/>
              </a:spcBef>
              <a:spcAft>
                <a:spcPts val="0"/>
              </a:spcAft>
              <a:buSzPts val="1800"/>
              <a:buChar char="●"/>
            </a:pPr>
            <a:r>
              <a:rPr lang="en"/>
              <a:t>Shows how the architecture changed between two commits</a:t>
            </a:r>
            <a:endParaRPr/>
          </a:p>
          <a:p>
            <a:pPr indent="0" lvl="0" marL="0" rtl="0" algn="l">
              <a:spcBef>
                <a:spcPts val="1200"/>
              </a:spcBef>
              <a:spcAft>
                <a:spcPts val="1200"/>
              </a:spcAft>
              <a:buNone/>
            </a:pPr>
            <a:r>
              <a:t/>
            </a:r>
            <a:endParaRPr/>
          </a:p>
        </p:txBody>
      </p:sp>
      <p:sp>
        <p:nvSpPr>
          <p:cNvPr id="244" name="Google Shape;24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Related work (2) </a:t>
            </a:r>
            <a:r>
              <a:rPr lang="en"/>
              <a:t>GumTree / RefactoringMiner</a:t>
            </a:r>
            <a:endParaRPr/>
          </a:p>
        </p:txBody>
      </p:sp>
      <p:sp>
        <p:nvSpPr>
          <p:cNvPr id="250" name="Google Shape;250;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What they do</a:t>
            </a:r>
            <a:endParaRPr/>
          </a:p>
          <a:p>
            <a:pPr indent="-342900" lvl="0" marL="457200" rtl="0" algn="l">
              <a:spcBef>
                <a:spcPts val="1200"/>
              </a:spcBef>
              <a:spcAft>
                <a:spcPts val="0"/>
              </a:spcAft>
              <a:buSzPts val="1800"/>
              <a:buChar char="●"/>
            </a:pPr>
            <a:r>
              <a:rPr lang="en"/>
              <a:t>Detect renames, moves, and other refactorings</a:t>
            </a:r>
            <a:endParaRPr/>
          </a:p>
          <a:p>
            <a:pPr indent="-342900" lvl="0" marL="457200" rtl="0" algn="l">
              <a:spcBef>
                <a:spcPts val="0"/>
              </a:spcBef>
              <a:spcAft>
                <a:spcPts val="0"/>
              </a:spcAft>
              <a:buSzPts val="1800"/>
              <a:buChar char="●"/>
            </a:pPr>
            <a:r>
              <a:rPr lang="en"/>
              <a:t>Match the same code across different versions</a:t>
            </a:r>
            <a:endParaRPr/>
          </a:p>
          <a:p>
            <a:pPr indent="-342900" lvl="0" marL="457200" rtl="0" algn="l">
              <a:spcBef>
                <a:spcPts val="0"/>
              </a:spcBef>
              <a:spcAft>
                <a:spcPts val="0"/>
              </a:spcAft>
              <a:buSzPts val="1800"/>
              <a:buChar char="●"/>
            </a:pPr>
            <a:r>
              <a:rPr lang="en"/>
              <a:t>Reduce false differences caused by refactoring</a:t>
            </a:r>
            <a:endParaRPr/>
          </a:p>
          <a:p>
            <a:pPr indent="0" lvl="0" marL="0" rtl="0" algn="l">
              <a:spcBef>
                <a:spcPts val="1200"/>
              </a:spcBef>
              <a:spcAft>
                <a:spcPts val="0"/>
              </a:spcAft>
              <a:buClr>
                <a:schemeClr val="dk1"/>
              </a:buClr>
              <a:buSzPts val="1100"/>
              <a:buFont typeface="Arial"/>
              <a:buNone/>
            </a:pPr>
            <a:r>
              <a:rPr lang="en"/>
              <a:t>How ARCHON is different</a:t>
            </a:r>
            <a:endParaRPr/>
          </a:p>
          <a:p>
            <a:pPr indent="-342900" lvl="0" marL="457200" rtl="0" algn="l">
              <a:spcBef>
                <a:spcPts val="1200"/>
              </a:spcBef>
              <a:spcAft>
                <a:spcPts val="0"/>
              </a:spcAft>
              <a:buSzPts val="1800"/>
              <a:buChar char="●"/>
            </a:pPr>
            <a:r>
              <a:rPr lang="en"/>
              <a:t>Uses these matches to compare 2 architectures</a:t>
            </a:r>
            <a:endParaRPr/>
          </a:p>
          <a:p>
            <a:pPr indent="-342900" lvl="0" marL="457200" rtl="0" algn="l">
              <a:spcBef>
                <a:spcPts val="0"/>
              </a:spcBef>
              <a:spcAft>
                <a:spcPts val="0"/>
              </a:spcAft>
              <a:buSzPts val="1800"/>
              <a:buChar char="●"/>
            </a:pPr>
            <a:r>
              <a:rPr lang="en"/>
              <a:t>Focuses on the architectural impact of the change</a:t>
            </a:r>
            <a:endParaRPr/>
          </a:p>
          <a:p>
            <a:pPr indent="-342900" lvl="0" marL="457200" rtl="0" algn="l">
              <a:spcBef>
                <a:spcPts val="0"/>
              </a:spcBef>
              <a:spcAft>
                <a:spcPts val="0"/>
              </a:spcAft>
              <a:buSzPts val="1800"/>
              <a:buChar char="●"/>
            </a:pPr>
            <a:r>
              <a:rPr lang="en"/>
              <a:t>Reviews architectural evolution, not just code refactorings</a:t>
            </a:r>
            <a:endParaRPr/>
          </a:p>
          <a:p>
            <a:pPr indent="0" lvl="0" marL="0" rtl="0" algn="l">
              <a:spcBef>
                <a:spcPts val="1200"/>
              </a:spcBef>
              <a:spcAft>
                <a:spcPts val="1200"/>
              </a:spcAft>
              <a:buNone/>
            </a:pPr>
            <a:r>
              <a:t/>
            </a:r>
            <a:endParaRPr/>
          </a:p>
        </p:txBody>
      </p:sp>
      <p:sp>
        <p:nvSpPr>
          <p:cNvPr id="251" name="Google Shape;25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Open questions</a:t>
            </a:r>
            <a:endParaRPr/>
          </a:p>
        </p:txBody>
      </p:sp>
      <p:sp>
        <p:nvSpPr>
          <p:cNvPr id="257" name="Google Shape;25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How should the architecture graph be built?</a:t>
            </a:r>
            <a:endParaRPr/>
          </a:p>
          <a:p>
            <a:pPr indent="-317500" lvl="1" marL="914400" rtl="0" algn="l">
              <a:spcBef>
                <a:spcPts val="0"/>
              </a:spcBef>
              <a:spcAft>
                <a:spcPts val="0"/>
              </a:spcAft>
              <a:buSzPts val="1400"/>
              <a:buAutoNum type="alphaLcPeriod"/>
            </a:pPr>
            <a:r>
              <a:rPr lang="en"/>
              <a:t>What should be included as nodes and edges?</a:t>
            </a:r>
            <a:endParaRPr/>
          </a:p>
          <a:p>
            <a:pPr indent="-317500" lvl="1" marL="914400" rtl="0" algn="l">
              <a:spcBef>
                <a:spcPts val="0"/>
              </a:spcBef>
              <a:spcAft>
                <a:spcPts val="0"/>
              </a:spcAft>
              <a:buSzPts val="1400"/>
              <a:buAutoNum type="alphaLcPeriod"/>
            </a:pPr>
            <a:r>
              <a:rPr lang="en"/>
              <a:t>How detailed should the graph be?</a:t>
            </a:r>
            <a:endParaRPr/>
          </a:p>
          <a:p>
            <a:pPr indent="-342900" lvl="0" marL="457200" rtl="0" algn="l">
              <a:spcBef>
                <a:spcPts val="0"/>
              </a:spcBef>
              <a:spcAft>
                <a:spcPts val="0"/>
              </a:spcAft>
              <a:buSzPts val="1800"/>
              <a:buAutoNum type="arabicPeriod"/>
            </a:pPr>
            <a:r>
              <a:rPr lang="en"/>
              <a:t>Can we capture all architectural relationships?</a:t>
            </a:r>
            <a:endParaRPr/>
          </a:p>
          <a:p>
            <a:pPr indent="-317500" lvl="1" marL="914400" rtl="0" algn="l">
              <a:spcBef>
                <a:spcPts val="0"/>
              </a:spcBef>
              <a:spcAft>
                <a:spcPts val="0"/>
              </a:spcAft>
              <a:buSzPts val="1400"/>
              <a:buAutoNum type="alphaLcPeriod"/>
            </a:pPr>
            <a:r>
              <a:rPr lang="en"/>
              <a:t>Some dependencies only appear when the system is running.</a:t>
            </a:r>
            <a:endParaRPr/>
          </a:p>
          <a:p>
            <a:pPr indent="-317500" lvl="1" marL="914400" rtl="0" algn="l">
              <a:spcBef>
                <a:spcPts val="0"/>
              </a:spcBef>
              <a:spcAft>
                <a:spcPts val="0"/>
              </a:spcAft>
              <a:buSzPts val="1400"/>
              <a:buAutoNum type="alphaLcPeriod"/>
            </a:pPr>
            <a:r>
              <a:rPr lang="en"/>
              <a:t>Do we need runtime information in addition to static analysis?</a:t>
            </a:r>
            <a:endParaRPr/>
          </a:p>
          <a:p>
            <a:pPr indent="-342900" lvl="0" marL="457200" rtl="0" algn="l">
              <a:spcBef>
                <a:spcPts val="0"/>
              </a:spcBef>
              <a:spcAft>
                <a:spcPts val="0"/>
              </a:spcAft>
              <a:buSzPts val="1800"/>
              <a:buAutoNum type="arabicPeriod"/>
            </a:pPr>
            <a:r>
              <a:rPr lang="en"/>
              <a:t>How well will this work across different languages?</a:t>
            </a:r>
            <a:endParaRPr/>
          </a:p>
          <a:p>
            <a:pPr indent="-317500" lvl="1" marL="914400" rtl="0" algn="l">
              <a:spcBef>
                <a:spcPts val="0"/>
              </a:spcBef>
              <a:spcAft>
                <a:spcPts val="0"/>
              </a:spcAft>
              <a:buSzPts val="1400"/>
              <a:buAutoNum type="alphaLcPeriod"/>
            </a:pPr>
            <a:r>
              <a:rPr lang="en"/>
              <a:t>Can the same approach handle Python, Go, Rust, C++, and mixed-language projects?</a:t>
            </a:r>
            <a:endParaRPr/>
          </a:p>
          <a:p>
            <a:pPr indent="0" lvl="0" marL="0" rtl="0" algn="l">
              <a:spcBef>
                <a:spcPts val="1200"/>
              </a:spcBef>
              <a:spcAft>
                <a:spcPts val="1200"/>
              </a:spcAft>
              <a:buNone/>
            </a:pPr>
            <a:r>
              <a:t/>
            </a:r>
            <a:endParaRPr/>
          </a:p>
        </p:txBody>
      </p:sp>
      <p:sp>
        <p:nvSpPr>
          <p:cNvPr id="258" name="Google Shape;25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Open questions</a:t>
            </a:r>
            <a:endParaRPr/>
          </a:p>
        </p:txBody>
      </p:sp>
      <p:sp>
        <p:nvSpPr>
          <p:cNvPr id="264" name="Google Shape;26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4. </a:t>
            </a:r>
            <a:r>
              <a:rPr lang="en"/>
              <a:t>Can architecture alone guarantee safe changes?</a:t>
            </a:r>
            <a:endParaRPr/>
          </a:p>
          <a:p>
            <a:pPr indent="-317500" lvl="1" marL="914400" rtl="0" algn="l">
              <a:spcBef>
                <a:spcPts val="1200"/>
              </a:spcBef>
              <a:spcAft>
                <a:spcPts val="0"/>
              </a:spcAft>
              <a:buSzPts val="1400"/>
              <a:buAutoNum type="alphaLcPeriod"/>
            </a:pPr>
            <a:r>
              <a:rPr lang="en"/>
              <a:t>A change may preserve the architecture but still change the system's behavior.</a:t>
            </a:r>
            <a:endParaRPr/>
          </a:p>
          <a:p>
            <a:pPr indent="-317500" lvl="1" marL="914400" rtl="0" algn="l">
              <a:spcBef>
                <a:spcPts val="0"/>
              </a:spcBef>
              <a:spcAft>
                <a:spcPts val="0"/>
              </a:spcAft>
              <a:buSzPts val="1400"/>
              <a:buAutoNum type="alphaLcPeriod"/>
            </a:pPr>
            <a:r>
              <a:rPr lang="en"/>
              <a:t>Is the architectural delta enough for automatic approval?</a:t>
            </a:r>
            <a:endParaRPr/>
          </a:p>
          <a:p>
            <a:pPr indent="0" lvl="0" marL="0" rtl="0" algn="l">
              <a:spcBef>
                <a:spcPts val="1200"/>
              </a:spcBef>
              <a:spcAft>
                <a:spcPts val="0"/>
              </a:spcAft>
              <a:buNone/>
            </a:pPr>
            <a:r>
              <a:rPr lang="en"/>
              <a:t>5. Can it scale to real industrial codebases?</a:t>
            </a:r>
            <a:endParaRPr/>
          </a:p>
          <a:p>
            <a:pPr indent="-317500" lvl="1" marL="914400" rtl="0" algn="l">
              <a:spcBef>
                <a:spcPts val="1200"/>
              </a:spcBef>
              <a:spcAft>
                <a:spcPts val="0"/>
              </a:spcAft>
              <a:buSzPts val="1400"/>
              <a:buAutoNum type="alphaLcPeriod"/>
            </a:pPr>
            <a:r>
              <a:rPr lang="en"/>
              <a:t>Will graph extraction and comparison remain fast for very large repositories?</a:t>
            </a:r>
            <a:endParaRPr/>
          </a:p>
          <a:p>
            <a:pPr indent="0" lvl="0" marL="0" rtl="0" algn="l">
              <a:spcBef>
                <a:spcPts val="1200"/>
              </a:spcBef>
              <a:spcAft>
                <a:spcPts val="0"/>
              </a:spcAft>
              <a:buNone/>
            </a:pPr>
            <a:r>
              <a:rPr lang="en"/>
              <a:t>6. How should ARCHON be evaluated?</a:t>
            </a:r>
            <a:endParaRPr/>
          </a:p>
          <a:p>
            <a:pPr indent="-317500" lvl="1" marL="914400" rtl="0" algn="l">
              <a:spcBef>
                <a:spcPts val="1200"/>
              </a:spcBef>
              <a:spcAft>
                <a:spcPts val="0"/>
              </a:spcAft>
              <a:buSzPts val="1400"/>
              <a:buAutoNum type="alphaLcPeriod"/>
            </a:pPr>
            <a:r>
              <a:rPr lang="en"/>
              <a:t>Does it actually improve code reviews?</a:t>
            </a:r>
            <a:endParaRPr/>
          </a:p>
          <a:p>
            <a:pPr indent="-317500" lvl="1" marL="914400" rtl="0" algn="l">
              <a:spcBef>
                <a:spcPts val="0"/>
              </a:spcBef>
              <a:spcAft>
                <a:spcPts val="0"/>
              </a:spcAft>
              <a:buSzPts val="1400"/>
              <a:buAutoNum type="alphaLcPeriod"/>
            </a:pPr>
            <a:r>
              <a:rPr lang="en"/>
              <a:t>Does it reduce review effort without missing important architectural changes?</a:t>
            </a:r>
            <a:endParaRPr/>
          </a:p>
          <a:p>
            <a:pPr indent="0" lvl="0" marL="0" rtl="0" algn="l">
              <a:spcBef>
                <a:spcPts val="1200"/>
              </a:spcBef>
              <a:spcAft>
                <a:spcPts val="1200"/>
              </a:spcAft>
              <a:buNone/>
            </a:pPr>
            <a:r>
              <a:t/>
            </a:r>
            <a:endParaRPr/>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1" name="Google Shape;27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72" name="Google Shape;27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extra</a:t>
            </a:r>
            <a:endParaRPr/>
          </a:p>
        </p:txBody>
      </p:sp>
      <p:sp>
        <p:nvSpPr>
          <p:cNvPr id="278" name="Google Shape;278;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20000"/>
          </a:bodyPr>
          <a:lstStyle/>
          <a:p>
            <a:pPr indent="-282893" lvl="0" marL="457200" rtl="0" algn="l">
              <a:spcBef>
                <a:spcPts val="0"/>
              </a:spcBef>
              <a:spcAft>
                <a:spcPts val="0"/>
              </a:spcAft>
              <a:buSzPct val="100000"/>
              <a:buChar char="●"/>
            </a:pPr>
            <a:r>
              <a:rPr lang="en"/>
              <a:t>Problem.</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How do you know it didn't quietly do</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UI</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Database</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Today's answer</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Run tests.</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ARCHON says</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Not enough.</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Also check</a:t>
            </a:r>
            <a:endParaRPr/>
          </a:p>
          <a:p>
            <a:pPr indent="-282893" lvl="0" marL="457200" rtl="0" algn="l">
              <a:spcBef>
                <a:spcPts val="0"/>
              </a:spcBef>
              <a:spcAft>
                <a:spcPts val="0"/>
              </a:spcAft>
              <a:buSzPct val="100000"/>
              <a:buChar char="●"/>
            </a:pPr>
            <a:r>
              <a:t/>
            </a:r>
            <a:endParaRPr/>
          </a:p>
          <a:p>
            <a:pPr indent="-282893" lvl="0" marL="457200" rtl="0" algn="l">
              <a:spcBef>
                <a:spcPts val="0"/>
              </a:spcBef>
              <a:spcAft>
                <a:spcPts val="0"/>
              </a:spcAft>
              <a:buSzPct val="100000"/>
              <a:buChar char="●"/>
            </a:pPr>
            <a:r>
              <a:rPr lang="en"/>
              <a:t>Did the architecture change?</a:t>
            </a:r>
            <a:endParaRPr/>
          </a:p>
          <a:p>
            <a:pPr indent="-282893" lvl="0" marL="457200" rtl="0" algn="l">
              <a:spcBef>
                <a:spcPts val="0"/>
              </a:spcBef>
              <a:spcAft>
                <a:spcPts val="0"/>
              </a:spcAft>
              <a:buSzPct val="100000"/>
              <a:buChar char="●"/>
            </a:pPr>
            <a:r>
              <a:t/>
            </a:r>
            <a:endParaRPr/>
          </a:p>
        </p:txBody>
      </p:sp>
      <p:sp>
        <p:nvSpPr>
          <p:cNvPr id="279" name="Google Shape;27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5" name="Google Shape;28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86" name="Google Shape;286;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Recap of the problem</a:t>
            </a:r>
            <a:endParaRPr/>
          </a:p>
        </p:txBody>
      </p:sp>
      <p:sp>
        <p:nvSpPr>
          <p:cNvPr id="292" name="Google Shape;292;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When you review a pull request, the tool shows a textual diff:</a:t>
            </a:r>
            <a:endParaRPr/>
          </a:p>
          <a:p>
            <a:pPr indent="0" lvl="0" marL="0" rtl="0" algn="l">
              <a:spcBef>
                <a:spcPts val="1200"/>
              </a:spcBef>
              <a:spcAft>
                <a:spcPts val="0"/>
              </a:spcAft>
              <a:buClr>
                <a:schemeClr val="dk1"/>
              </a:buClr>
              <a:buSzPts val="1100"/>
              <a:buFont typeface="Arial"/>
              <a:buNone/>
            </a:pPr>
            <a:r>
              <a:rPr b="1" lang="en">
                <a:solidFill>
                  <a:srgbClr val="93C47D"/>
                </a:solidFill>
              </a:rPr>
              <a:t>"9 files changed, 174 insertions."</a:t>
            </a:r>
            <a:endParaRPr b="1">
              <a:solidFill>
                <a:srgbClr val="93C47D"/>
              </a:solidFill>
            </a:endParaRPr>
          </a:p>
          <a:p>
            <a:pPr indent="0" lvl="0" marL="0" rtl="0" algn="l">
              <a:spcBef>
                <a:spcPts val="1200"/>
              </a:spcBef>
              <a:spcAft>
                <a:spcPts val="0"/>
              </a:spcAft>
              <a:buClr>
                <a:schemeClr val="dk1"/>
              </a:buClr>
              <a:buSzPts val="1100"/>
              <a:buFont typeface="Arial"/>
              <a:buNone/>
            </a:pPr>
            <a:r>
              <a:rPr lang="en"/>
              <a:t>That tells you what text moved, not what the design did.</a:t>
            </a:r>
            <a:endParaRPr/>
          </a:p>
          <a:p>
            <a:pPr indent="-342900" lvl="0" marL="457200" rtl="0" algn="l">
              <a:spcBef>
                <a:spcPts val="1200"/>
              </a:spcBef>
              <a:spcAft>
                <a:spcPts val="0"/>
              </a:spcAft>
              <a:buSzPts val="1800"/>
              <a:buChar char="●"/>
            </a:pPr>
            <a:r>
              <a:rPr lang="en"/>
              <a:t>A 90,000-line PR can be pure docs (no design change)</a:t>
            </a:r>
            <a:endParaRPr/>
          </a:p>
          <a:p>
            <a:pPr indent="-342900" lvl="0" marL="457200" rtl="0" algn="l">
              <a:spcBef>
                <a:spcPts val="0"/>
              </a:spcBef>
              <a:spcAft>
                <a:spcPts val="0"/>
              </a:spcAft>
              <a:buSzPts val="1800"/>
              <a:buChar char="●"/>
            </a:pPr>
            <a:r>
              <a:rPr lang="en"/>
              <a:t>A 30-line PR can insert a whole new caching layer</a:t>
            </a:r>
            <a:endParaRPr/>
          </a:p>
          <a:p>
            <a:pPr indent="0" lvl="0" marL="0" rtl="0" algn="l">
              <a:spcBef>
                <a:spcPts val="1200"/>
              </a:spcBef>
              <a:spcAft>
                <a:spcPts val="0"/>
              </a:spcAft>
              <a:buClr>
                <a:schemeClr val="dk1"/>
              </a:buClr>
              <a:buSzPts val="1100"/>
              <a:buFont typeface="Arial"/>
              <a:buNone/>
            </a:pPr>
            <a:r>
              <a:rPr lang="en"/>
              <a:t>Reviewers can't tell these apart from the diff.</a:t>
            </a:r>
            <a:endParaRPr/>
          </a:p>
          <a:p>
            <a:pPr indent="0" lvl="0" marL="0" rtl="0" algn="l">
              <a:spcBef>
                <a:spcPts val="1200"/>
              </a:spcBef>
              <a:spcAft>
                <a:spcPts val="1200"/>
              </a:spcAft>
              <a:buNone/>
            </a:pPr>
            <a:r>
              <a:t/>
            </a:r>
            <a:endParaRPr/>
          </a:p>
        </p:txBody>
      </p:sp>
      <p:sp>
        <p:nvSpPr>
          <p:cNvPr id="293" name="Google Shape;29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idea</a:t>
            </a:r>
            <a:endParaRPr/>
          </a:p>
        </p:txBody>
      </p:sp>
      <p:sp>
        <p:nvSpPr>
          <p:cNvPr id="299" name="Google Shape;299;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ARCHON builds a picture of the system's architecture and shows, for any change, the architectural delta:</a:t>
            </a:r>
            <a:endParaRPr/>
          </a:p>
          <a:p>
            <a:pPr indent="-342900" lvl="0" marL="457200" rtl="0" algn="l">
              <a:spcBef>
                <a:spcPts val="1200"/>
              </a:spcBef>
              <a:spcAft>
                <a:spcPts val="0"/>
              </a:spcAft>
              <a:buSzPts val="1800"/>
              <a:buChar char="●"/>
            </a:pPr>
            <a:r>
              <a:rPr lang="en"/>
              <a:t>Did a new part appear or disappear?</a:t>
            </a:r>
            <a:endParaRPr/>
          </a:p>
          <a:p>
            <a:pPr indent="-342900" lvl="0" marL="457200" rtl="0" algn="l">
              <a:spcBef>
                <a:spcPts val="0"/>
              </a:spcBef>
              <a:spcAft>
                <a:spcPts val="0"/>
              </a:spcAft>
              <a:buSzPts val="1800"/>
              <a:buChar char="●"/>
            </a:pPr>
            <a:r>
              <a:rPr lang="en"/>
              <a:t>Did a dependency form between parts?</a:t>
            </a:r>
            <a:endParaRPr/>
          </a:p>
          <a:p>
            <a:pPr indent="-342900" lvl="0" marL="457200" rtl="0" algn="l">
              <a:spcBef>
                <a:spcPts val="0"/>
              </a:spcBef>
              <a:spcAft>
                <a:spcPts val="0"/>
              </a:spcAft>
              <a:buSzPts val="1800"/>
              <a:buChar char="●"/>
            </a:pPr>
            <a:r>
              <a:rPr lang="en"/>
              <a:t>Did a public interface change?</a:t>
            </a:r>
            <a:endParaRPr/>
          </a:p>
          <a:p>
            <a:pPr indent="-342900" lvl="0" marL="457200" rtl="0" algn="l">
              <a:spcBef>
                <a:spcPts val="0"/>
              </a:spcBef>
              <a:spcAft>
                <a:spcPts val="0"/>
              </a:spcAft>
              <a:buSzPts val="1800"/>
              <a:buChar char="●"/>
            </a:pPr>
            <a:r>
              <a:rPr lang="en"/>
              <a:t>Did one part start implementing another's contract?</a:t>
            </a:r>
            <a:endParaRPr/>
          </a:p>
          <a:p>
            <a:pPr indent="0" lvl="0" marL="0" rtl="0" algn="l">
              <a:spcBef>
                <a:spcPts val="1200"/>
              </a:spcBef>
              <a:spcAft>
                <a:spcPts val="0"/>
              </a:spcAft>
              <a:buClr>
                <a:schemeClr val="dk1"/>
              </a:buClr>
              <a:buSzPts val="1100"/>
              <a:buFont typeface="Arial"/>
              <a:buNone/>
            </a:pPr>
            <a:r>
              <a:rPr lang="en"/>
              <a:t>This delta is smaller and more meaningful to review </a:t>
            </a:r>
            <a:endParaRPr/>
          </a:p>
          <a:p>
            <a:pPr indent="0" lvl="0" marL="0" rtl="0" algn="l">
              <a:spcBef>
                <a:spcPts val="1200"/>
              </a:spcBef>
              <a:spcAft>
                <a:spcPts val="1200"/>
              </a:spcAft>
              <a:buNone/>
            </a:pPr>
            <a:r>
              <a:t/>
            </a:r>
            <a:endParaRPr/>
          </a:p>
        </p:txBody>
      </p:sp>
      <p:sp>
        <p:nvSpPr>
          <p:cNvPr id="300" name="Google Shape;30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have implemented so far</a:t>
            </a:r>
            <a:endParaRPr/>
          </a:p>
        </p:txBody>
      </p:sp>
      <p:sp>
        <p:nvSpPr>
          <p:cNvPr id="306" name="Google Shape;30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ARCHON supports today:</a:t>
            </a:r>
            <a:endParaRPr/>
          </a:p>
          <a:p>
            <a:pPr indent="-342900" lvl="0" marL="457200" rtl="0" algn="l">
              <a:spcBef>
                <a:spcPts val="1200"/>
              </a:spcBef>
              <a:spcAft>
                <a:spcPts val="0"/>
              </a:spcAft>
              <a:buSzPts val="1800"/>
              <a:buChar char="●"/>
            </a:pPr>
            <a:r>
              <a:rPr lang="en"/>
              <a:t>archon-go extract &lt;repo&gt; &lt;commit&gt;</a:t>
            </a:r>
            <a:endParaRPr/>
          </a:p>
          <a:p>
            <a:pPr indent="-342900" lvl="0" marL="457200" rtl="0" algn="l">
              <a:spcBef>
                <a:spcPts val="0"/>
              </a:spcBef>
              <a:spcAft>
                <a:spcPts val="0"/>
              </a:spcAft>
              <a:buSzPts val="1800"/>
              <a:buChar char="●"/>
            </a:pPr>
            <a:r>
              <a:rPr lang="en"/>
              <a:t>archon-go delta &lt;repo&gt; &lt;before-commit&gt; &lt;after-commit&gt;</a:t>
            </a:r>
            <a:endParaRPr/>
          </a:p>
          <a:p>
            <a:pPr indent="-342900" lvl="0" marL="457200" rtl="0" algn="l">
              <a:spcBef>
                <a:spcPts val="0"/>
              </a:spcBef>
              <a:spcAft>
                <a:spcPts val="0"/>
              </a:spcAft>
              <a:buSzPts val="1800"/>
              <a:buChar char="●"/>
            </a:pPr>
            <a:r>
              <a:rPr lang="en"/>
              <a:t>archon-go render &lt;repo&gt; &lt;commit&gt;</a:t>
            </a:r>
            <a:endParaRPr/>
          </a:p>
          <a:p>
            <a:pPr indent="0" lvl="0" marL="0" rtl="0" algn="l">
              <a:spcBef>
                <a:spcPts val="1200"/>
              </a:spcBef>
              <a:spcAft>
                <a:spcPts val="1200"/>
              </a:spcAft>
              <a:buNone/>
            </a:pPr>
            <a:r>
              <a:t/>
            </a:r>
            <a:endParaRPr/>
          </a:p>
        </p:txBody>
      </p:sp>
      <p:sp>
        <p:nvSpPr>
          <p:cNvPr id="307" name="Google Shape;307;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Evaluating archon on blis - method</a:t>
            </a:r>
            <a:endParaRPr/>
          </a:p>
        </p:txBody>
      </p:sp>
      <p:sp>
        <p:nvSpPr>
          <p:cNvPr id="313" name="Google Shape;313;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For the last 80 merged PRs, we:</a:t>
            </a:r>
            <a:endParaRPr/>
          </a:p>
          <a:p>
            <a:pPr indent="-342900" lvl="0" marL="457200" rtl="0" algn="l">
              <a:spcBef>
                <a:spcPts val="0"/>
              </a:spcBef>
              <a:spcAft>
                <a:spcPts val="0"/>
              </a:spcAft>
              <a:buSzPts val="1800"/>
              <a:buAutoNum type="arabicPeriod"/>
            </a:pPr>
            <a:r>
              <a:rPr lang="en"/>
              <a:t>Compared the repository before and after each merge.</a:t>
            </a:r>
            <a:endParaRPr/>
          </a:p>
          <a:p>
            <a:pPr indent="-342900" lvl="0" marL="457200" rtl="0" algn="l">
              <a:spcBef>
                <a:spcPts val="0"/>
              </a:spcBef>
              <a:spcAft>
                <a:spcPts val="0"/>
              </a:spcAft>
              <a:buSzPts val="1800"/>
              <a:buAutoNum type="arabicPeriod"/>
            </a:pPr>
            <a:r>
              <a:rPr lang="en"/>
              <a:t>Extracted an architecture graph for both versions containing:</a:t>
            </a:r>
            <a:endParaRPr/>
          </a:p>
          <a:p>
            <a:pPr indent="-317500" lvl="1" marL="914400" rtl="0" algn="l">
              <a:spcBef>
                <a:spcPts val="0"/>
              </a:spcBef>
              <a:spcAft>
                <a:spcPts val="0"/>
              </a:spcAft>
              <a:buSzPts val="1400"/>
              <a:buAutoNum type="alphaLcPeriod"/>
            </a:pPr>
            <a:r>
              <a:rPr lang="en"/>
              <a:t>Packages</a:t>
            </a:r>
            <a:endParaRPr/>
          </a:p>
          <a:p>
            <a:pPr indent="-317500" lvl="1" marL="914400" rtl="0" algn="l">
              <a:spcBef>
                <a:spcPts val="0"/>
              </a:spcBef>
              <a:spcAft>
                <a:spcPts val="0"/>
              </a:spcAft>
              <a:buSzPts val="1400"/>
              <a:buAutoNum type="alphaLcPeriod"/>
            </a:pPr>
            <a:r>
              <a:rPr lang="en"/>
              <a:t>Import dependencies</a:t>
            </a:r>
            <a:endParaRPr/>
          </a:p>
          <a:p>
            <a:pPr indent="-317500" lvl="1" marL="914400" rtl="0" algn="l">
              <a:spcBef>
                <a:spcPts val="0"/>
              </a:spcBef>
              <a:spcAft>
                <a:spcPts val="0"/>
              </a:spcAft>
              <a:buSzPts val="1400"/>
              <a:buAutoNum type="alphaLcPeriod"/>
            </a:pPr>
            <a:r>
              <a:rPr lang="en"/>
              <a:t>Public interfaces</a:t>
            </a:r>
            <a:endParaRPr/>
          </a:p>
          <a:p>
            <a:pPr indent="-342900" lvl="0" marL="457200" rtl="0" algn="l">
              <a:spcBef>
                <a:spcPts val="0"/>
              </a:spcBef>
              <a:spcAft>
                <a:spcPts val="0"/>
              </a:spcAft>
              <a:buSzPts val="1800"/>
              <a:buAutoNum type="arabicPeriod"/>
            </a:pPr>
            <a:r>
              <a:rPr lang="en"/>
              <a:t>Computed the architectural delta by diffing the two graphs.</a:t>
            </a:r>
            <a:endParaRPr/>
          </a:p>
          <a:p>
            <a:pPr indent="-342900" lvl="0" marL="457200" rtl="0" algn="l">
              <a:spcBef>
                <a:spcPts val="0"/>
              </a:spcBef>
              <a:spcAft>
                <a:spcPts val="0"/>
              </a:spcAft>
              <a:buSzPts val="1800"/>
              <a:buAutoNum type="arabicPeriod"/>
            </a:pPr>
            <a:r>
              <a:rPr lang="en"/>
              <a:t>Compared the architectural delta against the normal Git diff (files/lines changed).</a:t>
            </a:r>
            <a:endParaRPr/>
          </a:p>
          <a:p>
            <a:pPr indent="0" lvl="0" marL="0" rtl="0" algn="l">
              <a:spcBef>
                <a:spcPts val="1200"/>
              </a:spcBef>
              <a:spcAft>
                <a:spcPts val="1200"/>
              </a:spcAft>
              <a:buNone/>
            </a:pPr>
            <a:r>
              <a:t/>
            </a:r>
            <a:endParaRPr/>
          </a:p>
        </p:txBody>
      </p:sp>
      <p:sp>
        <p:nvSpPr>
          <p:cNvPr id="314" name="Google Shape;31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archon analyzes a change</a:t>
            </a:r>
            <a:endParaRPr/>
          </a:p>
        </p:txBody>
      </p:sp>
      <p:sp>
        <p:nvSpPr>
          <p:cNvPr id="320" name="Google Shape;320;p49"/>
          <p:cNvSpPr txBox="1"/>
          <p:nvPr>
            <p:ph idx="1" type="body"/>
          </p:nvPr>
        </p:nvSpPr>
        <p:spPr>
          <a:xfrm>
            <a:off x="2204175" y="1141950"/>
            <a:ext cx="482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parent commit                    target commit</a:t>
            </a:r>
            <a:endParaRPr/>
          </a:p>
          <a:p>
            <a:pPr indent="0" lvl="0" marL="0" rtl="0" algn="l">
              <a:spcBef>
                <a:spcPts val="1200"/>
              </a:spcBef>
              <a:spcAft>
                <a:spcPts val="0"/>
              </a:spcAft>
              <a:buClr>
                <a:schemeClr val="dk1"/>
              </a:buClr>
              <a:buSzPts val="1100"/>
              <a:buFont typeface="Arial"/>
              <a:buNone/>
            </a:pPr>
            <a:r>
              <a:rPr lang="en"/>
              <a:t>     ↓                                               ↓</a:t>
            </a:r>
            <a:endParaRPr/>
          </a:p>
          <a:p>
            <a:pPr indent="0" lvl="0" marL="0" rtl="0" algn="l">
              <a:spcBef>
                <a:spcPts val="1200"/>
              </a:spcBef>
              <a:spcAft>
                <a:spcPts val="0"/>
              </a:spcAft>
              <a:buClr>
                <a:schemeClr val="dk1"/>
              </a:buClr>
              <a:buSzPts val="1100"/>
              <a:buFont typeface="Arial"/>
              <a:buNone/>
            </a:pPr>
            <a:r>
              <a:rPr lang="en"/>
              <a:t>before graph                          after graph</a:t>
            </a:r>
            <a:endParaRPr/>
          </a:p>
          <a:p>
            <a:pPr indent="0" lvl="0" marL="0" rtl="0" algn="l">
              <a:spcBef>
                <a:spcPts val="1200"/>
              </a:spcBef>
              <a:spcAft>
                <a:spcPts val="0"/>
              </a:spcAft>
              <a:buClr>
                <a:schemeClr val="dk1"/>
              </a:buClr>
              <a:buSzPts val="1100"/>
              <a:buFont typeface="Arial"/>
              <a:buNone/>
            </a:pPr>
            <a:r>
              <a:rPr lang="en"/>
              <a:t>     └──────── diff ────────┘</a:t>
            </a:r>
            <a:endParaRPr/>
          </a:p>
          <a:p>
            <a:pPr indent="0" lvl="0" marL="0" rtl="0" algn="l">
              <a:spcBef>
                <a:spcPts val="1200"/>
              </a:spcBef>
              <a:spcAft>
                <a:spcPts val="0"/>
              </a:spcAft>
              <a:buClr>
                <a:schemeClr val="dk1"/>
              </a:buClr>
              <a:buSzPts val="1100"/>
              <a:buFont typeface="Arial"/>
              <a:buNone/>
            </a:pPr>
            <a:r>
              <a:rPr lang="en"/>
              <a:t>                               ↓</a:t>
            </a:r>
            <a:endParaRPr/>
          </a:p>
          <a:p>
            <a:pPr indent="0" lvl="0" marL="0" rtl="0" algn="l">
              <a:spcBef>
                <a:spcPts val="1200"/>
              </a:spcBef>
              <a:spcAft>
                <a:spcPts val="0"/>
              </a:spcAft>
              <a:buClr>
                <a:schemeClr val="dk1"/>
              </a:buClr>
              <a:buSzPts val="1100"/>
              <a:buFont typeface="Arial"/>
              <a:buNone/>
            </a:pPr>
            <a:r>
              <a:rPr lang="en"/>
              <a:t>                   architectural delta</a:t>
            </a:r>
            <a:endParaRPr/>
          </a:p>
          <a:p>
            <a:pPr indent="0" lvl="0" marL="0" rtl="0" algn="l">
              <a:spcBef>
                <a:spcPts val="1200"/>
              </a:spcBef>
              <a:spcAft>
                <a:spcPts val="1200"/>
              </a:spcAft>
              <a:buNone/>
            </a:pPr>
            <a:r>
              <a:t/>
            </a:r>
            <a:endParaRPr/>
          </a:p>
        </p:txBody>
      </p:sp>
      <p:sp>
        <p:nvSpPr>
          <p:cNvPr id="321" name="Google Shape;32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results</a:t>
            </a:r>
            <a:endParaRPr/>
          </a:p>
        </p:txBody>
      </p:sp>
      <p:sp>
        <p:nvSpPr>
          <p:cNvPr id="327" name="Google Shape;327;p50"/>
          <p:cNvSpPr txBox="1"/>
          <p:nvPr>
            <p:ph idx="1" type="body"/>
          </p:nvPr>
        </p:nvSpPr>
        <p:spPr>
          <a:xfrm>
            <a:off x="311700" y="3826000"/>
            <a:ext cx="8520600" cy="742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PR #1322 -&gt; 88,873 changed lines -&gt; 162 modified files -&gt; architectural delta empty (most of themw ere just md files) </a:t>
            </a:r>
            <a:endParaRPr/>
          </a:p>
        </p:txBody>
      </p:sp>
      <p:pic>
        <p:nvPicPr>
          <p:cNvPr id="328" name="Google Shape;328;p50"/>
          <p:cNvPicPr preferRelativeResize="0"/>
          <p:nvPr/>
        </p:nvPicPr>
        <p:blipFill>
          <a:blip r:embed="rId3">
            <a:alphaModFix/>
          </a:blip>
          <a:stretch>
            <a:fillRect/>
          </a:stretch>
        </p:blipFill>
        <p:spPr>
          <a:xfrm>
            <a:off x="0" y="1415143"/>
            <a:ext cx="9144001" cy="2313215"/>
          </a:xfrm>
          <a:prstGeom prst="rect">
            <a:avLst/>
          </a:prstGeom>
          <a:noFill/>
          <a:ln>
            <a:noFill/>
          </a:ln>
        </p:spPr>
      </p:pic>
      <p:sp>
        <p:nvSpPr>
          <p:cNvPr id="329" name="Google Shape;32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Choosing a repository with known architectural changes</a:t>
            </a:r>
            <a:endParaRPr/>
          </a:p>
        </p:txBody>
      </p:sp>
      <p:sp>
        <p:nvSpPr>
          <p:cNvPr id="335" name="Google Shape;33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S</a:t>
            </a:r>
            <a:r>
              <a:rPr lang="en"/>
              <a:t>elected: todo-api-microservice-example (Mario Carrion)</a:t>
            </a:r>
            <a:endParaRPr/>
          </a:p>
          <a:p>
            <a:pPr indent="0" lvl="0" marL="0" rtl="0" algn="l">
              <a:spcBef>
                <a:spcPts val="1200"/>
              </a:spcBef>
              <a:spcAft>
                <a:spcPts val="0"/>
              </a:spcAft>
              <a:buClr>
                <a:schemeClr val="dk1"/>
              </a:buClr>
              <a:buSzPct val="61111"/>
              <a:buFont typeface="Arial"/>
              <a:buNone/>
            </a:pPr>
            <a:r>
              <a:rPr lang="en"/>
              <a:t>Why?</a:t>
            </a:r>
            <a:endParaRPr/>
          </a:p>
          <a:p>
            <a:pPr indent="-325755" lvl="0" marL="457200" rtl="0" algn="l">
              <a:spcBef>
                <a:spcPts val="1200"/>
              </a:spcBef>
              <a:spcAft>
                <a:spcPts val="0"/>
              </a:spcAft>
              <a:buSzPct val="100000"/>
              <a:buChar char="●"/>
            </a:pPr>
            <a:r>
              <a:rPr lang="en"/>
              <a:t>Built specifically to teach software architecture.</a:t>
            </a:r>
            <a:endParaRPr/>
          </a:p>
          <a:p>
            <a:pPr indent="-325755" lvl="0" marL="457200" rtl="0" algn="l">
              <a:spcBef>
                <a:spcPts val="0"/>
              </a:spcBef>
              <a:spcAft>
                <a:spcPts val="0"/>
              </a:spcAft>
              <a:buSzPct val="100000"/>
              <a:buChar char="●"/>
            </a:pPr>
            <a:r>
              <a:rPr lang="en"/>
              <a:t>Every major architectural evolution is documented.</a:t>
            </a:r>
            <a:endParaRPr/>
          </a:p>
          <a:p>
            <a:pPr indent="-325755" lvl="0" marL="457200" rtl="0" algn="l">
              <a:spcBef>
                <a:spcPts val="0"/>
              </a:spcBef>
              <a:spcAft>
                <a:spcPts val="0"/>
              </a:spcAft>
              <a:buSzPct val="100000"/>
              <a:buChar char="●"/>
            </a:pPr>
            <a:r>
              <a:rPr lang="en"/>
              <a:t>Documentation links architectural changes to specific commits.</a:t>
            </a:r>
            <a:endParaRPr/>
          </a:p>
          <a:p>
            <a:pPr indent="0" lvl="0" marL="0" rtl="0" algn="l">
              <a:spcBef>
                <a:spcPts val="1200"/>
              </a:spcBef>
              <a:spcAft>
                <a:spcPts val="0"/>
              </a:spcAft>
              <a:buNone/>
            </a:pPr>
            <a:r>
              <a:rPr lang="en"/>
              <a:t>Examples include:</a:t>
            </a:r>
            <a:endParaRPr/>
          </a:p>
          <a:p>
            <a:pPr indent="-325755" lvl="0" marL="457200" rtl="0" algn="l">
              <a:spcBef>
                <a:spcPts val="1200"/>
              </a:spcBef>
              <a:spcAft>
                <a:spcPts val="0"/>
              </a:spcAft>
              <a:buSzPct val="100000"/>
              <a:buChar char="●"/>
            </a:pPr>
            <a:r>
              <a:rPr lang="en"/>
              <a:t>Cache-aside layer</a:t>
            </a:r>
            <a:endParaRPr/>
          </a:p>
          <a:p>
            <a:pPr indent="-325755" lvl="0" marL="457200" rtl="0" algn="l">
              <a:spcBef>
                <a:spcPts val="0"/>
              </a:spcBef>
              <a:spcAft>
                <a:spcPts val="0"/>
              </a:spcAft>
              <a:buSzPct val="100000"/>
              <a:buChar char="●"/>
            </a:pPr>
            <a:r>
              <a:rPr lang="en"/>
              <a:t>Elasticsearch search engine</a:t>
            </a:r>
            <a:endParaRPr/>
          </a:p>
          <a:p>
            <a:pPr indent="-325755" lvl="0" marL="457200" rtl="0" algn="l">
              <a:spcBef>
                <a:spcPts val="0"/>
              </a:spcBef>
              <a:spcAft>
                <a:spcPts val="0"/>
              </a:spcAft>
              <a:buSzPct val="100000"/>
              <a:buChar char="●"/>
            </a:pPr>
            <a:r>
              <a:rPr lang="en"/>
              <a:t>RabbitMQ</a:t>
            </a:r>
            <a:endParaRPr/>
          </a:p>
          <a:p>
            <a:pPr indent="-325755" lvl="0" marL="457200" rtl="0" algn="l">
              <a:spcBef>
                <a:spcPts val="0"/>
              </a:spcBef>
              <a:spcAft>
                <a:spcPts val="0"/>
              </a:spcAft>
              <a:buSzPct val="100000"/>
              <a:buChar char="●"/>
            </a:pPr>
            <a:r>
              <a:rPr lang="en"/>
              <a:t>Kafka/event streaming</a:t>
            </a:r>
            <a:endParaRPr/>
          </a:p>
          <a:p>
            <a:pPr indent="0" lvl="0" marL="0" rtl="0" algn="l">
              <a:spcBef>
                <a:spcPts val="1200"/>
              </a:spcBef>
              <a:spcAft>
                <a:spcPts val="1200"/>
              </a:spcAft>
              <a:buNone/>
            </a:pPr>
            <a:r>
              <a:t/>
            </a:r>
            <a:endParaRPr/>
          </a:p>
        </p:txBody>
      </p:sp>
      <p:sp>
        <p:nvSpPr>
          <p:cNvPr id="336" name="Google Shape;336;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Microservice repo</a:t>
            </a:r>
            <a:endParaRPr/>
          </a:p>
        </p:txBody>
      </p:sp>
      <p:sp>
        <p:nvSpPr>
          <p:cNvPr id="342" name="Google Shape;342;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Ground Truth</a:t>
            </a:r>
            <a:endParaRPr b="1"/>
          </a:p>
          <a:p>
            <a:pPr indent="0" lvl="0" marL="0" rtl="0" algn="l">
              <a:spcBef>
                <a:spcPts val="1200"/>
              </a:spcBef>
              <a:spcAft>
                <a:spcPts val="0"/>
              </a:spcAft>
              <a:buClr>
                <a:schemeClr val="dk1"/>
              </a:buClr>
              <a:buSzPts val="1100"/>
              <a:buFont typeface="Arial"/>
              <a:buNone/>
            </a:pPr>
            <a:r>
              <a:rPr lang="en"/>
              <a:t>Project documentation states this commit introduced a Cache-Aside caching layer.</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Code change</a:t>
            </a:r>
            <a:endParaRPr/>
          </a:p>
          <a:p>
            <a:pPr indent="-342900" lvl="0" marL="457200" rtl="0" algn="l">
              <a:spcBef>
                <a:spcPts val="1200"/>
              </a:spcBef>
              <a:spcAft>
                <a:spcPts val="0"/>
              </a:spcAft>
              <a:buSzPts val="1800"/>
              <a:buChar char="●"/>
            </a:pPr>
            <a:r>
              <a:rPr lang="en"/>
              <a:t>174 changed lines</a:t>
            </a:r>
            <a:endParaRPr/>
          </a:p>
          <a:p>
            <a:pPr indent="-342900" lvl="0" marL="457200" rtl="0" algn="l">
              <a:spcBef>
                <a:spcPts val="0"/>
              </a:spcBef>
              <a:spcAft>
                <a:spcPts val="0"/>
              </a:spcAft>
              <a:buSzPts val="1800"/>
              <a:buChar char="●"/>
            </a:pPr>
            <a:r>
              <a:rPr lang="en"/>
              <a:t>8 modified files</a:t>
            </a:r>
            <a:endParaRPr/>
          </a:p>
          <a:p>
            <a:pPr indent="0" lvl="0" marL="0" rtl="0" algn="l">
              <a:spcBef>
                <a:spcPts val="1200"/>
              </a:spcBef>
              <a:spcAft>
                <a:spcPts val="1200"/>
              </a:spcAft>
              <a:buNone/>
            </a:pPr>
            <a:r>
              <a:t/>
            </a:r>
            <a:endParaRPr/>
          </a:p>
        </p:txBody>
      </p:sp>
      <p:sp>
        <p:nvSpPr>
          <p:cNvPr id="343" name="Google Shape;343;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archon builds the architecture graph</a:t>
            </a:r>
            <a:endParaRPr/>
          </a:p>
        </p:txBody>
      </p:sp>
      <p:sp>
        <p:nvSpPr>
          <p:cNvPr id="349" name="Google Shape;349;p53"/>
          <p:cNvSpPr txBox="1"/>
          <p:nvPr>
            <p:ph idx="1" type="body"/>
          </p:nvPr>
        </p:nvSpPr>
        <p:spPr>
          <a:xfrm>
            <a:off x="2050800" y="1184100"/>
            <a:ext cx="5485200" cy="38013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b="1" lang="en"/>
              <a:t>                         Repository @ Commit</a:t>
            </a:r>
            <a:endParaRPr b="1"/>
          </a:p>
          <a:p>
            <a:pPr indent="0" lvl="0" marL="0" rtl="0" algn="l">
              <a:spcBef>
                <a:spcPts val="1200"/>
              </a:spcBef>
              <a:spcAft>
                <a:spcPts val="0"/>
              </a:spcAft>
              <a:buClr>
                <a:schemeClr val="dk1"/>
              </a:buClr>
              <a:buSzPct val="61111"/>
              <a:buFont typeface="Arial"/>
              <a:buNone/>
            </a:pPr>
            <a:r>
              <a:rPr lang="en"/>
              <a:t>                                           │</a:t>
            </a:r>
            <a:endParaRPr/>
          </a:p>
          <a:p>
            <a:pPr indent="0" lvl="0" marL="0" rtl="0" algn="l">
              <a:spcBef>
                <a:spcPts val="1200"/>
              </a:spcBef>
              <a:spcAft>
                <a:spcPts val="0"/>
              </a:spcAft>
              <a:buClr>
                <a:schemeClr val="dk1"/>
              </a:buClr>
              <a:buSzPct val="61111"/>
              <a:buFont typeface="Arial"/>
              <a:buNone/>
            </a:pPr>
            <a:r>
              <a:rPr b="1" lang="en"/>
              <a:t>                    Load and analyze the Go project</a:t>
            </a:r>
            <a:endParaRPr b="1"/>
          </a:p>
          <a:p>
            <a:pPr indent="0" lvl="0" marL="0" rtl="0" algn="l">
              <a:spcBef>
                <a:spcPts val="1200"/>
              </a:spcBef>
              <a:spcAft>
                <a:spcPts val="0"/>
              </a:spcAft>
              <a:buClr>
                <a:schemeClr val="dk1"/>
              </a:buClr>
              <a:buSzPct val="61111"/>
              <a:buFont typeface="Arial"/>
              <a:buNone/>
            </a:pPr>
            <a:r>
              <a:rPr lang="en"/>
              <a:t>                                           │</a:t>
            </a:r>
            <a:endParaRPr/>
          </a:p>
          <a:p>
            <a:pPr indent="0" lvl="0" marL="0" rtl="0" algn="l">
              <a:spcBef>
                <a:spcPts val="1200"/>
              </a:spcBef>
              <a:spcAft>
                <a:spcPts val="0"/>
              </a:spcAft>
              <a:buNone/>
            </a:pPr>
            <a:r>
              <a:rPr lang="en"/>
              <a:t>      ┌─────────────────────────────┐</a:t>
            </a:r>
            <a:endParaRPr/>
          </a:p>
          <a:p>
            <a:pPr indent="0" lvl="0" marL="0" rtl="0" algn="l">
              <a:spcBef>
                <a:spcPts val="1200"/>
              </a:spcBef>
              <a:spcAft>
                <a:spcPts val="0"/>
              </a:spcAft>
              <a:buClr>
                <a:schemeClr val="dk1"/>
              </a:buClr>
              <a:buSzPct val="61111"/>
              <a:buFont typeface="Arial"/>
              <a:buNone/>
            </a:pPr>
            <a:r>
              <a:rPr lang="en"/>
              <a:t>      │                   </a:t>
            </a:r>
            <a:r>
              <a:rPr b="1" lang="en"/>
              <a:t>Architecture Graph </a:t>
            </a:r>
            <a:r>
              <a:rPr b="1" lang="en"/>
              <a:t>   </a:t>
            </a:r>
            <a:r>
              <a:rPr lang="en"/>
              <a:t>                   │</a:t>
            </a:r>
            <a:endParaRPr/>
          </a:p>
          <a:p>
            <a:pPr indent="0" lvl="0" marL="0" rtl="0" algn="l">
              <a:spcBef>
                <a:spcPts val="1200"/>
              </a:spcBef>
              <a:spcAft>
                <a:spcPts val="0"/>
              </a:spcAft>
              <a:buClr>
                <a:schemeClr val="dk1"/>
              </a:buClr>
              <a:buSzPct val="61111"/>
              <a:buFont typeface="Arial"/>
              <a:buNone/>
            </a:pPr>
            <a:r>
              <a:rPr lang="en"/>
              <a:t>      └─────────────────────────────┘</a:t>
            </a:r>
            <a:endParaRPr/>
          </a:p>
          <a:p>
            <a:pPr indent="0" lvl="0" marL="0" rtl="0" algn="l">
              <a:spcBef>
                <a:spcPts val="1200"/>
              </a:spcBef>
              <a:spcAft>
                <a:spcPts val="0"/>
              </a:spcAft>
              <a:buClr>
                <a:schemeClr val="dk1"/>
              </a:buClr>
              <a:buSzPct val="61111"/>
              <a:buFont typeface="Arial"/>
              <a:buNone/>
            </a:pPr>
            <a:r>
              <a:rPr lang="en"/>
              <a:t>      </a:t>
            </a:r>
            <a:r>
              <a:rPr b="1" lang="en"/>
              <a:t>Nodes</a:t>
            </a:r>
            <a:r>
              <a:rPr lang="en"/>
              <a:t>                                                          </a:t>
            </a:r>
            <a:r>
              <a:rPr b="1" lang="en"/>
              <a:t>Edges</a:t>
            </a:r>
            <a:endParaRPr b="1"/>
          </a:p>
          <a:p>
            <a:pPr indent="0" lvl="0" marL="0" rtl="0" algn="l">
              <a:spcBef>
                <a:spcPts val="1200"/>
              </a:spcBef>
              <a:spcAft>
                <a:spcPts val="0"/>
              </a:spcAft>
              <a:buNone/>
            </a:pPr>
            <a:r>
              <a:rPr lang="en"/>
              <a:t>   • Go packages                                            • Imports</a:t>
            </a:r>
            <a:endParaRPr/>
          </a:p>
          <a:p>
            <a:pPr indent="0" lvl="0" marL="0" rtl="0" algn="l">
              <a:spcBef>
                <a:spcPts val="1200"/>
              </a:spcBef>
              <a:spcAft>
                <a:spcPts val="0"/>
              </a:spcAft>
              <a:buNone/>
            </a:pPr>
            <a:r>
              <a:rPr lang="en"/>
              <a:t>   • External deps        </a:t>
            </a:r>
            <a:r>
              <a:rPr lang="en"/>
              <a:t>                                   • Calls</a:t>
            </a:r>
            <a:endParaRPr/>
          </a:p>
          <a:p>
            <a:pPr indent="0" lvl="0" marL="0" rtl="0" algn="l">
              <a:spcBef>
                <a:spcPts val="1200"/>
              </a:spcBef>
              <a:spcAft>
                <a:spcPts val="1200"/>
              </a:spcAft>
              <a:buNone/>
            </a:pPr>
            <a:r>
              <a:rPr lang="en"/>
              <a:t>                                                                      • Interface implementation</a:t>
            </a:r>
            <a:endParaRPr/>
          </a:p>
        </p:txBody>
      </p:sp>
      <p:sp>
        <p:nvSpPr>
          <p:cNvPr id="350" name="Google Shape;35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ran</a:t>
            </a:r>
            <a:endParaRPr/>
          </a:p>
        </p:txBody>
      </p:sp>
      <p:sp>
        <p:nvSpPr>
          <p:cNvPr id="356" name="Google Shape;356;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a:t>
            </a:r>
            <a:r>
              <a:rPr lang="en"/>
              <a:t>or </a:t>
            </a:r>
            <a:r>
              <a:rPr b="1" lang="en"/>
              <a:t>4</a:t>
            </a:r>
            <a:r>
              <a:rPr lang="en"/>
              <a:t> documented changes:</a:t>
            </a:r>
            <a:endParaRPr/>
          </a:p>
          <a:p>
            <a:pPr indent="-342900" lvl="0" marL="457200" rtl="0" algn="l">
              <a:spcBef>
                <a:spcPts val="1200"/>
              </a:spcBef>
              <a:spcAft>
                <a:spcPts val="0"/>
              </a:spcAft>
              <a:buSzPts val="1800"/>
              <a:buChar char="●"/>
            </a:pPr>
            <a:r>
              <a:rPr lang="en"/>
              <a:t>we ran ARCHON on the commit before and the commit after</a:t>
            </a:r>
            <a:endParaRPr/>
          </a:p>
          <a:p>
            <a:pPr indent="-342900" lvl="0" marL="457200" rtl="0" algn="l">
              <a:spcBef>
                <a:spcPts val="0"/>
              </a:spcBef>
              <a:spcAft>
                <a:spcPts val="0"/>
              </a:spcAft>
              <a:buSzPts val="1800"/>
              <a:buChar char="●"/>
            </a:pPr>
            <a:r>
              <a:rPr lang="en"/>
              <a:t>and checked whether its delta matched what the maintainers said they did</a:t>
            </a:r>
            <a:endParaRPr/>
          </a:p>
          <a:p>
            <a:pPr indent="0" lvl="0" marL="0" rtl="0" algn="l">
              <a:spcBef>
                <a:spcPts val="1200"/>
              </a:spcBef>
              <a:spcAft>
                <a:spcPts val="0"/>
              </a:spcAft>
              <a:buNone/>
            </a:pPr>
            <a:r>
              <a:rPr lang="en"/>
              <a:t>We found:</a:t>
            </a:r>
            <a:endParaRPr/>
          </a:p>
          <a:p>
            <a:pPr indent="0" lvl="0" marL="0" rtl="0" algn="l">
              <a:spcBef>
                <a:spcPts val="1200"/>
              </a:spcBef>
              <a:spcAft>
                <a:spcPts val="1200"/>
              </a:spcAft>
              <a:buNone/>
            </a:pPr>
            <a:r>
              <a:t/>
            </a:r>
            <a:endParaRPr/>
          </a:p>
        </p:txBody>
      </p:sp>
      <p:pic>
        <p:nvPicPr>
          <p:cNvPr id="357" name="Google Shape;357;p54"/>
          <p:cNvPicPr preferRelativeResize="0"/>
          <p:nvPr/>
        </p:nvPicPr>
        <p:blipFill>
          <a:blip r:embed="rId3">
            <a:alphaModFix/>
          </a:blip>
          <a:stretch>
            <a:fillRect/>
          </a:stretch>
        </p:blipFill>
        <p:spPr>
          <a:xfrm>
            <a:off x="1536950" y="2860700"/>
            <a:ext cx="5408874" cy="1960275"/>
          </a:xfrm>
          <a:prstGeom prst="rect">
            <a:avLst/>
          </a:prstGeom>
          <a:noFill/>
          <a:ln>
            <a:noFill/>
          </a:ln>
        </p:spPr>
      </p:pic>
      <p:sp>
        <p:nvSpPr>
          <p:cNvPr id="358" name="Google Shape;358;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4" name="Google Shape;364;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5" name="Google Shape;365;p55"/>
          <p:cNvPicPr preferRelativeResize="0"/>
          <p:nvPr/>
        </p:nvPicPr>
        <p:blipFill>
          <a:blip r:embed="rId3">
            <a:alphaModFix/>
          </a:blip>
          <a:stretch>
            <a:fillRect/>
          </a:stretch>
        </p:blipFill>
        <p:spPr>
          <a:xfrm>
            <a:off x="749835" y="0"/>
            <a:ext cx="7644329" cy="5143499"/>
          </a:xfrm>
          <a:prstGeom prst="rect">
            <a:avLst/>
          </a:prstGeom>
          <a:noFill/>
          <a:ln>
            <a:noFill/>
          </a:ln>
        </p:spPr>
      </p:pic>
      <p:sp>
        <p:nvSpPr>
          <p:cNvPr id="366" name="Google Shape;366;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56"/>
          <p:cNvPicPr preferRelativeResize="0"/>
          <p:nvPr/>
        </p:nvPicPr>
        <p:blipFill>
          <a:blip r:embed="rId3">
            <a:alphaModFix/>
          </a:blip>
          <a:stretch>
            <a:fillRect/>
          </a:stretch>
        </p:blipFill>
        <p:spPr>
          <a:xfrm>
            <a:off x="1939323" y="394775"/>
            <a:ext cx="6036377" cy="4464151"/>
          </a:xfrm>
          <a:prstGeom prst="rect">
            <a:avLst/>
          </a:prstGeom>
          <a:noFill/>
          <a:ln>
            <a:noFill/>
          </a:ln>
        </p:spPr>
      </p:pic>
      <p:sp>
        <p:nvSpPr>
          <p:cNvPr id="372" name="Google Shape;37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78" name="Google Shape;378;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9" name="Google Shape;379;p57"/>
          <p:cNvPicPr preferRelativeResize="0"/>
          <p:nvPr/>
        </p:nvPicPr>
        <p:blipFill>
          <a:blip r:embed="rId3">
            <a:alphaModFix/>
          </a:blip>
          <a:stretch>
            <a:fillRect/>
          </a:stretch>
        </p:blipFill>
        <p:spPr>
          <a:xfrm>
            <a:off x="1562318" y="0"/>
            <a:ext cx="6019364" cy="5143499"/>
          </a:xfrm>
          <a:prstGeom prst="rect">
            <a:avLst/>
          </a:prstGeom>
          <a:noFill/>
          <a:ln>
            <a:noFill/>
          </a:ln>
        </p:spPr>
      </p:pic>
      <p:sp>
        <p:nvSpPr>
          <p:cNvPr id="380" name="Google Shape;380;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Control experiment </a:t>
            </a:r>
            <a:endParaRPr/>
          </a:p>
        </p:txBody>
      </p:sp>
      <p:sp>
        <p:nvSpPr>
          <p:cNvPr id="386" name="Google Shape;386;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Test whether archon stays quiet when NO architectural changes are made</a:t>
            </a:r>
            <a:endParaRPr/>
          </a:p>
          <a:p>
            <a:pPr indent="-342900" lvl="0" marL="457200" rtl="0" algn="l">
              <a:spcBef>
                <a:spcPts val="0"/>
              </a:spcBef>
              <a:spcAft>
                <a:spcPts val="0"/>
              </a:spcAft>
              <a:buSzPts val="1800"/>
              <a:buChar char="●"/>
            </a:pPr>
            <a:r>
              <a:rPr lang="en"/>
              <a:t>These commits </a:t>
            </a:r>
            <a:r>
              <a:rPr lang="en"/>
              <a:t>only</a:t>
            </a:r>
            <a:r>
              <a:rPr lang="en"/>
              <a:t> changed some versions of their dependencies </a:t>
            </a:r>
            <a:endParaRPr/>
          </a:p>
          <a:p>
            <a:pPr indent="-342900" lvl="0" marL="457200" rtl="0" algn="l">
              <a:spcBef>
                <a:spcPts val="0"/>
              </a:spcBef>
              <a:spcAft>
                <a:spcPts val="0"/>
              </a:spcAft>
              <a:buSzPts val="1800"/>
              <a:buChar char="●"/>
            </a:pPr>
            <a:r>
              <a:rPr lang="en"/>
              <a:t>Archon found no architectural changes</a:t>
            </a:r>
            <a:endParaRPr/>
          </a:p>
        </p:txBody>
      </p:sp>
      <p:sp>
        <p:nvSpPr>
          <p:cNvPr id="387" name="Google Shape;387;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 </a:t>
            </a:r>
            <a:endParaRPr/>
          </a:p>
        </p:txBody>
      </p:sp>
      <p:sp>
        <p:nvSpPr>
          <p:cNvPr id="393" name="Google Shape;393;p59"/>
          <p:cNvSpPr txBox="1"/>
          <p:nvPr>
            <p:ph idx="1" type="body"/>
          </p:nvPr>
        </p:nvSpPr>
        <p:spPr>
          <a:xfrm>
            <a:off x="311700" y="1152475"/>
            <a:ext cx="8520600" cy="367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Richer graph attributes?</a:t>
            </a:r>
            <a:endParaRPr/>
          </a:p>
          <a:p>
            <a:pPr indent="-317500" lvl="1" marL="914400" rtl="0" algn="l">
              <a:spcBef>
                <a:spcPts val="0"/>
              </a:spcBef>
              <a:spcAft>
                <a:spcPts val="0"/>
              </a:spcAft>
              <a:buSzPts val="1400"/>
              <a:buAutoNum type="alphaLcPeriod"/>
            </a:pPr>
            <a:r>
              <a:rPr lang="en"/>
              <a:t>Today, ARCHON models structural relationships such as:</a:t>
            </a:r>
            <a:endParaRPr/>
          </a:p>
          <a:p>
            <a:pPr indent="-317500" lvl="2" marL="1371600" rtl="0" algn="l">
              <a:spcBef>
                <a:spcPts val="0"/>
              </a:spcBef>
              <a:spcAft>
                <a:spcPts val="0"/>
              </a:spcAft>
              <a:buSzPts val="1400"/>
              <a:buAutoNum type="romanLcPeriod"/>
            </a:pPr>
            <a:r>
              <a:rPr lang="en"/>
              <a:t>Packages</a:t>
            </a:r>
            <a:endParaRPr/>
          </a:p>
          <a:p>
            <a:pPr indent="-317500" lvl="2" marL="1371600" rtl="0" algn="l">
              <a:spcBef>
                <a:spcPts val="0"/>
              </a:spcBef>
              <a:spcAft>
                <a:spcPts val="0"/>
              </a:spcAft>
              <a:buSzPts val="1400"/>
              <a:buAutoNum type="romanLcPeriod"/>
            </a:pPr>
            <a:r>
              <a:rPr lang="en"/>
              <a:t>Imports</a:t>
            </a:r>
            <a:endParaRPr/>
          </a:p>
          <a:p>
            <a:pPr indent="-317500" lvl="2" marL="1371600" rtl="0" algn="l">
              <a:spcBef>
                <a:spcPts val="0"/>
              </a:spcBef>
              <a:spcAft>
                <a:spcPts val="0"/>
              </a:spcAft>
              <a:buSzPts val="1400"/>
              <a:buAutoNum type="romanLcPeriod"/>
            </a:pPr>
            <a:r>
              <a:rPr lang="en"/>
              <a:t>Calls</a:t>
            </a:r>
            <a:endParaRPr/>
          </a:p>
          <a:p>
            <a:pPr indent="-317500" lvl="2" marL="1371600" rtl="0" algn="l">
              <a:spcBef>
                <a:spcPts val="0"/>
              </a:spcBef>
              <a:spcAft>
                <a:spcPts val="0"/>
              </a:spcAft>
              <a:buSzPts val="1400"/>
              <a:buAutoNum type="romanLcPeriod"/>
            </a:pPr>
            <a:r>
              <a:rPr lang="en"/>
              <a:t>Interface implementations</a:t>
            </a:r>
            <a:endParaRPr/>
          </a:p>
          <a:p>
            <a:pPr indent="-317500" lvl="1" marL="914400" rtl="0" algn="l">
              <a:spcBef>
                <a:spcPts val="0"/>
              </a:spcBef>
              <a:spcAft>
                <a:spcPts val="0"/>
              </a:spcAft>
              <a:buSzPts val="1400"/>
              <a:buAutoNum type="alphaLcPeriod"/>
            </a:pPr>
            <a:r>
              <a:rPr lang="en"/>
              <a:t>Need to</a:t>
            </a:r>
            <a:r>
              <a:rPr lang="en"/>
              <a:t> capture operational architecture, including:</a:t>
            </a:r>
            <a:endParaRPr/>
          </a:p>
          <a:p>
            <a:pPr indent="-317500" lvl="2" marL="1371600" rtl="0" algn="l">
              <a:spcBef>
                <a:spcPts val="0"/>
              </a:spcBef>
              <a:spcAft>
                <a:spcPts val="0"/>
              </a:spcAft>
              <a:buSzPts val="1400"/>
              <a:buAutoNum type="romanLcPeriod"/>
            </a:pPr>
            <a:r>
              <a:rPr lang="en"/>
              <a:t>Configuration / CLI flags</a:t>
            </a:r>
            <a:endParaRPr/>
          </a:p>
          <a:p>
            <a:pPr indent="-317500" lvl="2" marL="1371600" rtl="0" algn="l">
              <a:spcBef>
                <a:spcPts val="0"/>
              </a:spcBef>
              <a:spcAft>
                <a:spcPts val="0"/>
              </a:spcAft>
              <a:buSzPts val="1400"/>
              <a:buAutoNum type="romanLcPeriod"/>
            </a:pPr>
            <a:r>
              <a:rPr lang="en"/>
              <a:t>Protocols and APIs</a:t>
            </a:r>
            <a:endParaRPr/>
          </a:p>
          <a:p>
            <a:pPr indent="-317500" lvl="2" marL="1371600" rtl="0" algn="l">
              <a:spcBef>
                <a:spcPts val="0"/>
              </a:spcBef>
              <a:spcAft>
                <a:spcPts val="0"/>
              </a:spcAft>
              <a:buSzPts val="1400"/>
              <a:buAutoNum type="romanLcPeriod"/>
            </a:pPr>
            <a:r>
              <a:rPr lang="en"/>
              <a:t>External systems</a:t>
            </a:r>
            <a:endParaRPr/>
          </a:p>
          <a:p>
            <a:pPr indent="-317500" lvl="2" marL="1371600" rtl="0" algn="l">
              <a:spcBef>
                <a:spcPts val="0"/>
              </a:spcBef>
              <a:spcAft>
                <a:spcPts val="0"/>
              </a:spcAft>
              <a:buSzPts val="1400"/>
              <a:buAutoNum type="romanLcPeriod"/>
            </a:pPr>
            <a:r>
              <a:rPr lang="en"/>
              <a:t>Platform &amp; deployment dependencies</a:t>
            </a:r>
            <a:endParaRPr/>
          </a:p>
        </p:txBody>
      </p:sp>
      <p:sp>
        <p:nvSpPr>
          <p:cNvPr id="394" name="Google Shape;394;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 - </a:t>
            </a:r>
            <a:r>
              <a:rPr lang="en"/>
              <a:t>connecting</a:t>
            </a:r>
            <a:r>
              <a:rPr lang="en"/>
              <a:t> architecture to property testing</a:t>
            </a:r>
            <a:endParaRPr/>
          </a:p>
        </p:txBody>
      </p:sp>
      <p:sp>
        <p:nvSpPr>
          <p:cNvPr id="400" name="Google Shape;400;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Today, archon tells us: What changed in the architecture? </a:t>
            </a:r>
            <a:endParaRPr/>
          </a:p>
          <a:p>
            <a:pPr indent="0" lvl="0" marL="0" rtl="0" algn="l">
              <a:spcBef>
                <a:spcPts val="1200"/>
              </a:spcBef>
              <a:spcAft>
                <a:spcPts val="0"/>
              </a:spcAft>
              <a:buClr>
                <a:schemeClr val="dk1"/>
              </a:buClr>
              <a:buSzPct val="61111"/>
              <a:buFont typeface="Arial"/>
              <a:buNone/>
            </a:pPr>
            <a:r>
              <a:rPr lang="en"/>
              <a:t>Future: </a:t>
            </a:r>
            <a:r>
              <a:rPr lang="en"/>
              <a:t>ARCHON could also tell us:</a:t>
            </a:r>
            <a:endParaRPr/>
          </a:p>
          <a:p>
            <a:pPr indent="-325755" lvl="0" marL="457200" rtl="0" algn="l">
              <a:spcBef>
                <a:spcPts val="1200"/>
              </a:spcBef>
              <a:spcAft>
                <a:spcPts val="0"/>
              </a:spcAft>
              <a:buSzPct val="100000"/>
              <a:buChar char="●"/>
            </a:pPr>
            <a:r>
              <a:rPr lang="en"/>
              <a:t>What guarantees should still hold?</a:t>
            </a:r>
            <a:endParaRPr/>
          </a:p>
          <a:p>
            <a:pPr indent="-325755" lvl="0" marL="457200" rtl="0" algn="l">
              <a:spcBef>
                <a:spcPts val="0"/>
              </a:spcBef>
              <a:spcAft>
                <a:spcPts val="0"/>
              </a:spcAft>
              <a:buSzPct val="100000"/>
              <a:buChar char="●"/>
            </a:pPr>
            <a:r>
              <a:rPr lang="en"/>
              <a:t>What new guarantees should be checked?</a:t>
            </a:r>
            <a:endParaRPr/>
          </a:p>
          <a:p>
            <a:pPr indent="0" lvl="0" marL="0" rtl="0" algn="l">
              <a:spcBef>
                <a:spcPts val="1200"/>
              </a:spcBef>
              <a:spcAft>
                <a:spcPts val="0"/>
              </a:spcAft>
              <a:buNone/>
            </a:pPr>
            <a:r>
              <a:rPr lang="en"/>
              <a:t>For example:</a:t>
            </a:r>
            <a:endParaRPr/>
          </a:p>
          <a:p>
            <a:pPr indent="-325755" lvl="0" marL="457200" rtl="0" algn="l">
              <a:spcBef>
                <a:spcPts val="1200"/>
              </a:spcBef>
              <a:spcAft>
                <a:spcPts val="0"/>
              </a:spcAft>
              <a:buSzPct val="100000"/>
              <a:buChar char="●"/>
            </a:pPr>
            <a:r>
              <a:rPr lang="en"/>
              <a:t>Internal implementation change -&gt; existing tests/invariants should still pass.</a:t>
            </a:r>
            <a:endParaRPr/>
          </a:p>
          <a:p>
            <a:pPr indent="-325755" lvl="0" marL="457200" rtl="0" algn="l">
              <a:spcBef>
                <a:spcPts val="0"/>
              </a:spcBef>
              <a:spcAft>
                <a:spcPts val="0"/>
              </a:spcAft>
              <a:buSzPct val="100000"/>
              <a:buChar char="●"/>
            </a:pPr>
            <a:r>
              <a:rPr lang="en"/>
              <a:t>New architectural component -&gt; reviewers may need to verify new system guarantees.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401" name="Google Shape;401;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07" name="Google Shape;40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other relaitonships</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functions vairables touching that</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static anaylsis building graphs</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is thismpr safe to merge</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does it require human review vs agent</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ci tool -&gt; arhcon running on pr</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if we want to sue ai at all int he tool</a:t>
            </a:r>
            <a:endParaRPr sz="900">
              <a:solidFill>
                <a:srgbClr val="BBBEBF"/>
              </a:solidFill>
              <a:highlight>
                <a:srgbClr val="121314"/>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en" sz="900">
                <a:solidFill>
                  <a:srgbClr val="BBBEBF"/>
                </a:solidFill>
                <a:highlight>
                  <a:srgbClr val="121314"/>
                </a:highlight>
                <a:latin typeface="Courier New"/>
                <a:ea typeface="Courier New"/>
                <a:cs typeface="Courier New"/>
                <a:sym typeface="Courier New"/>
              </a:rPr>
              <a:t>if we od when is it useul</a:t>
            </a:r>
            <a:endParaRPr sz="900">
              <a:solidFill>
                <a:srgbClr val="BBBEBF"/>
              </a:solidFill>
              <a:highlight>
                <a:srgbClr val="121314"/>
              </a:highlight>
              <a:latin typeface="Courier New"/>
              <a:ea typeface="Courier New"/>
              <a:cs typeface="Courier New"/>
              <a:sym typeface="Courier New"/>
            </a:endParaRPr>
          </a:p>
          <a:p>
            <a:pPr indent="0" lvl="0" marL="0" rtl="0" algn="l">
              <a:spcBef>
                <a:spcPts val="0"/>
              </a:spcBef>
              <a:spcAft>
                <a:spcPts val="1200"/>
              </a:spcAft>
              <a:buNone/>
            </a:pPr>
            <a:r>
              <a:t/>
            </a:r>
            <a:endParaRPr/>
          </a:p>
        </p:txBody>
      </p:sp>
      <p:sp>
        <p:nvSpPr>
          <p:cNvPr id="408" name="Google Shape;408;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14" name="Google Shape;414;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15" name="Google Shape;415;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16" name="Google Shape;416;p62"/>
          <p:cNvPicPr preferRelativeResize="0"/>
          <p:nvPr/>
        </p:nvPicPr>
        <p:blipFill>
          <a:blip r:embed="rId3">
            <a:alphaModFix/>
          </a:blip>
          <a:stretch>
            <a:fillRect/>
          </a:stretch>
        </p:blipFill>
        <p:spPr>
          <a:xfrm>
            <a:off x="1716862" y="0"/>
            <a:ext cx="5710276" cy="51434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22" name="Google Shape;422;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3" name="Google Shape;423;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24" name="Google Shape;424;p63"/>
          <p:cNvPicPr preferRelativeResize="0"/>
          <p:nvPr/>
        </p:nvPicPr>
        <p:blipFill>
          <a:blip r:embed="rId3">
            <a:alphaModFix/>
          </a:blip>
          <a:stretch>
            <a:fillRect/>
          </a:stretch>
        </p:blipFill>
        <p:spPr>
          <a:xfrm>
            <a:off x="0" y="814994"/>
            <a:ext cx="9143999" cy="351351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30" name="Google Shape;430;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31" name="Google Shape;43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32" name="Google Shape;432;p64"/>
          <p:cNvPicPr preferRelativeResize="0"/>
          <p:nvPr/>
        </p:nvPicPr>
        <p:blipFill>
          <a:blip r:embed="rId3">
            <a:alphaModFix/>
          </a:blip>
          <a:stretch>
            <a:fillRect/>
          </a:stretch>
        </p:blipFill>
        <p:spPr>
          <a:xfrm>
            <a:off x="563096" y="0"/>
            <a:ext cx="8017810" cy="51435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Speaker notes check</a:t>
            </a:r>
            <a:endParaRPr/>
          </a:p>
        </p:txBody>
      </p:sp>
      <p:sp>
        <p:nvSpPr>
          <p:cNvPr id="438" name="Google Shape;438;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39" name="Google Shape;439;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 sn</a:t>
            </a:r>
            <a:endParaRPr/>
          </a:p>
        </p:txBody>
      </p:sp>
      <p:sp>
        <p:nvSpPr>
          <p:cNvPr id="445" name="Google Shape;445;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6" name="Google Shape;446;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unresolved</a:t>
            </a:r>
            <a:endParaRPr/>
          </a:p>
        </p:txBody>
      </p:sp>
      <p:sp>
        <p:nvSpPr>
          <p:cNvPr id="452" name="Google Shape;452;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What is still unresolved</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do not yet tell you exactly how ARCHON knows a test belongs to an interface or implementation.</a:t>
            </a:r>
            <a:endParaRPr/>
          </a:p>
          <a:p>
            <a:pPr indent="0" lvl="0" marL="0" rtl="0" algn="l">
              <a:spcBef>
                <a:spcPts val="1200"/>
              </a:spcBef>
              <a:spcAft>
                <a:spcPts val="1200"/>
              </a:spcAft>
              <a:buNone/>
            </a:pPr>
            <a:r>
              <a:t/>
            </a:r>
            <a:endParaRPr/>
          </a:p>
        </p:txBody>
      </p:sp>
      <p:sp>
        <p:nvSpPr>
          <p:cNvPr id="453" name="Google Shape;453;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59" name="Google Shape;459;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Clr>
                <a:schemeClr val="dk1"/>
              </a:buClr>
              <a:buSzPct val="47826"/>
              <a:buFont typeface="Arial"/>
              <a:buNone/>
            </a:pPr>
            <a:r>
              <a:rPr b="1" lang="en" sz="2300">
                <a:solidFill>
                  <a:schemeClr val="dk1"/>
                </a:solidFill>
              </a:rPr>
              <a:t>What is missing?</a:t>
            </a:r>
            <a:endParaRPr b="1" sz="23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This is the entire next research problem.</a:t>
            </a:r>
            <a:endParaRPr sz="1100">
              <a:solidFill>
                <a:schemeClr val="dk1"/>
              </a:solidFill>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800"/>
              </a:spcBef>
              <a:spcAft>
                <a:spcPts val="0"/>
              </a:spcAft>
              <a:buClr>
                <a:schemeClr val="dk1"/>
              </a:buClr>
              <a:buSzPct val="64706"/>
              <a:buFont typeface="Arial"/>
              <a:buNone/>
            </a:pPr>
            <a:r>
              <a:rPr b="1" lang="en" sz="1700">
                <a:solidFill>
                  <a:schemeClr val="dk1"/>
                </a:solidFill>
              </a:rPr>
              <a:t>Missing piece 1</a:t>
            </a:r>
            <a:endParaRPr b="1" sz="17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Today</a:t>
            </a:r>
            <a:endParaRPr sz="1100">
              <a:solidFill>
                <a:schemeClr val="dk1"/>
              </a:solidFill>
            </a:endParaRPr>
          </a:p>
          <a:p>
            <a:pPr indent="0" lvl="0" marL="0" rtl="0" algn="l">
              <a:spcBef>
                <a:spcPts val="1200"/>
              </a:spcBef>
              <a:spcAft>
                <a:spcPts val="0"/>
              </a:spcAft>
              <a:buNone/>
            </a:pPr>
            <a:r>
              <a:rPr lang="en" sz="1100">
                <a:solidFill>
                  <a:schemeClr val="dk1"/>
                </a:solidFill>
              </a:rPr>
              <a:t>Package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Property tests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The mentor wants</a:t>
            </a:r>
            <a:endParaRPr sz="1100">
              <a:solidFill>
                <a:schemeClr val="dk1"/>
              </a:solidFill>
            </a:endParaRPr>
          </a:p>
          <a:p>
            <a:pPr indent="0" lvl="0" marL="0" rtl="0" algn="l">
              <a:spcBef>
                <a:spcPts val="1200"/>
              </a:spcBef>
              <a:spcAft>
                <a:spcPts val="0"/>
              </a:spcAft>
              <a:buNone/>
            </a:pPr>
            <a:r>
              <a:rPr lang="en" sz="1100">
                <a:solidFill>
                  <a:schemeClr val="dk1"/>
                </a:solidFill>
              </a:rPr>
              <a:t>Architecture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Invariant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Property test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Notice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the important thing is now</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the invariant.</a:t>
            </a:r>
            <a:endParaRPr sz="1100">
              <a:solidFill>
                <a:schemeClr val="dk1"/>
              </a:solidFill>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800"/>
              </a:spcBef>
              <a:spcAft>
                <a:spcPts val="0"/>
              </a:spcAft>
              <a:buClr>
                <a:schemeClr val="dk1"/>
              </a:buClr>
              <a:buSzPct val="64706"/>
              <a:buFont typeface="Arial"/>
              <a:buNone/>
            </a:pPr>
            <a:r>
              <a:rPr b="1" lang="en" sz="1700">
                <a:solidFill>
                  <a:schemeClr val="dk1"/>
                </a:solidFill>
              </a:rPr>
              <a:t>Missing piece 2</a:t>
            </a:r>
            <a:endParaRPr b="1" sz="17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Suppose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Store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has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TestStoreContract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How does ARCHON know that?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That's still undecided.</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Possibilities</a:t>
            </a:r>
            <a:endParaRPr sz="1100">
              <a:solidFill>
                <a:schemeClr val="dk1"/>
              </a:solidFill>
            </a:endParaRPr>
          </a:p>
          <a:p>
            <a:pPr indent="-246063" lvl="0" marL="457200" rtl="0" algn="l">
              <a:spcBef>
                <a:spcPts val="1200"/>
              </a:spcBef>
              <a:spcAft>
                <a:spcPts val="0"/>
              </a:spcAft>
              <a:buClr>
                <a:schemeClr val="dk1"/>
              </a:buClr>
              <a:buSzPct val="100000"/>
              <a:buChar char="●"/>
            </a:pPr>
            <a:r>
              <a:rPr lang="en" sz="1100">
                <a:solidFill>
                  <a:schemeClr val="dk1"/>
                </a:solidFill>
              </a:rPr>
              <a:t>annotation</a:t>
            </a:r>
            <a:endParaRPr sz="1100">
              <a:solidFill>
                <a:schemeClr val="dk1"/>
              </a:solidFill>
            </a:endParaRPr>
          </a:p>
          <a:p>
            <a:pPr indent="-246063" lvl="0" marL="457200" rtl="0" algn="l">
              <a:spcBef>
                <a:spcPts val="0"/>
              </a:spcBef>
              <a:spcAft>
                <a:spcPts val="0"/>
              </a:spcAft>
              <a:buClr>
                <a:schemeClr val="dk1"/>
              </a:buClr>
              <a:buSzPct val="100000"/>
              <a:buChar char="●"/>
            </a:pPr>
            <a:r>
              <a:rPr lang="en" sz="1100">
                <a:solidFill>
                  <a:schemeClr val="dk1"/>
                </a:solidFill>
              </a:rPr>
              <a:t>metadata</a:t>
            </a:r>
            <a:endParaRPr sz="1100">
              <a:solidFill>
                <a:schemeClr val="dk1"/>
              </a:solidFill>
            </a:endParaRPr>
          </a:p>
          <a:p>
            <a:pPr indent="-246063" lvl="0" marL="457200" rtl="0" algn="l">
              <a:spcBef>
                <a:spcPts val="0"/>
              </a:spcBef>
              <a:spcAft>
                <a:spcPts val="0"/>
              </a:spcAft>
              <a:buClr>
                <a:schemeClr val="dk1"/>
              </a:buClr>
              <a:buSzPct val="100000"/>
              <a:buChar char="●"/>
            </a:pPr>
            <a:r>
              <a:rPr lang="en" sz="1100">
                <a:solidFill>
                  <a:schemeClr val="dk1"/>
                </a:solidFill>
              </a:rPr>
              <a:t>automatic inference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This is probably the biggest design decision.</a:t>
            </a:r>
            <a:endParaRPr sz="1100">
              <a:solidFill>
                <a:schemeClr val="dk1"/>
              </a:solidFill>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800"/>
              </a:spcBef>
              <a:spcAft>
                <a:spcPts val="0"/>
              </a:spcAft>
              <a:buClr>
                <a:schemeClr val="dk1"/>
              </a:buClr>
              <a:buSzPct val="64706"/>
              <a:buFont typeface="Arial"/>
              <a:buNone/>
            </a:pPr>
            <a:r>
              <a:rPr b="1" lang="en" sz="1700">
                <a:solidFill>
                  <a:schemeClr val="dk1"/>
                </a:solidFill>
              </a:rPr>
              <a:t>Missing piece 3</a:t>
            </a:r>
            <a:endParaRPr b="1" sz="17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Suppose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ARCHON knows</a:t>
            </a:r>
            <a:endParaRPr sz="1100">
              <a:solidFill>
                <a:schemeClr val="dk1"/>
              </a:solidFill>
            </a:endParaRPr>
          </a:p>
          <a:p>
            <a:pPr indent="0" lvl="0" marL="0" rtl="0" algn="l">
              <a:spcBef>
                <a:spcPts val="1200"/>
              </a:spcBef>
              <a:spcAft>
                <a:spcPts val="0"/>
              </a:spcAft>
              <a:buNone/>
            </a:pPr>
            <a:r>
              <a:rPr lang="en" sz="1100">
                <a:solidFill>
                  <a:schemeClr val="dk1"/>
                </a:solidFill>
              </a:rPr>
              <a:t>Store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MemoryStore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RedisStore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KafkaStore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and</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TestStoreContract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How does it know</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the test actually exercises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all three?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Another open design.</a:t>
            </a:r>
            <a:endParaRPr sz="1100">
              <a:solidFill>
                <a:schemeClr val="dk1"/>
              </a:solidFill>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800"/>
              </a:spcBef>
              <a:spcAft>
                <a:spcPts val="0"/>
              </a:spcAft>
              <a:buClr>
                <a:schemeClr val="dk1"/>
              </a:buClr>
              <a:buSzPct val="64706"/>
              <a:buFont typeface="Arial"/>
              <a:buNone/>
            </a:pPr>
            <a:r>
              <a:rPr b="1" lang="en" sz="1700">
                <a:solidFill>
                  <a:schemeClr val="dk1"/>
                </a:solidFill>
              </a:rPr>
              <a:t>Missing piece 4</a:t>
            </a:r>
            <a:endParaRPr b="1" sz="17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Behavioral contracts.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Today</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a box roughly contains</a:t>
            </a:r>
            <a:endParaRPr sz="1100">
              <a:solidFill>
                <a:schemeClr val="dk1"/>
              </a:solidFill>
            </a:endParaRPr>
          </a:p>
          <a:p>
            <a:pPr indent="0" lvl="0" marL="0" rtl="0" algn="l">
              <a:spcBef>
                <a:spcPts val="1200"/>
              </a:spcBef>
              <a:spcAft>
                <a:spcPts val="0"/>
              </a:spcAft>
              <a:buNone/>
            </a:pPr>
            <a:r>
              <a:rPr lang="en" sz="1100">
                <a:solidFill>
                  <a:schemeClr val="dk1"/>
                </a:solidFill>
              </a:rPr>
              <a:t>Surface</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rPr lang="en" sz="1100">
                <a:solidFill>
                  <a:schemeClr val="dk1"/>
                </a:solidFill>
              </a:rPr>
              <a:t>Allow-list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Tests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The paper says</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it should also contain</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Behavioral Contract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but we haven't implemented</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what that actually looks like.</a:t>
            </a:r>
            <a:endParaRPr sz="1100">
              <a:solidFill>
                <a:schemeClr val="dk1"/>
              </a:solidFill>
            </a:endParaRPr>
          </a:p>
          <a:p>
            <a:pPr indent="0" lvl="0" marL="0" rtl="0" algn="l">
              <a:spcBef>
                <a:spcPts val="1200"/>
              </a:spcBef>
              <a:spcAft>
                <a:spcPts val="1200"/>
              </a:spcAft>
              <a:buNone/>
            </a:pPr>
            <a:r>
              <a:t/>
            </a:r>
            <a:endParaRPr/>
          </a:p>
        </p:txBody>
      </p:sp>
      <p:sp>
        <p:nvSpPr>
          <p:cNvPr id="460" name="Google Shape;460;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66" name="Google Shape;466;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Clr>
                <a:schemeClr val="dk1"/>
              </a:buClr>
              <a:buSzPct val="100000"/>
              <a:buFont typeface="Arial"/>
              <a:buNone/>
            </a:pPr>
            <a:r>
              <a:rPr lang="en" sz="1100">
                <a:solidFill>
                  <a:schemeClr val="dk1"/>
                </a:solidFill>
              </a:rPr>
              <a:t>ARCHON would report three kinds of information.</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 sz="1300">
                <a:solidFill>
                  <a:schemeClr val="dk1"/>
                </a:solidFill>
              </a:rPr>
              <a:t>1. Structural change</a:t>
            </a:r>
            <a:endParaRPr b="1" sz="1300">
              <a:solidFill>
                <a:schemeClr val="dk1"/>
              </a:solidFill>
            </a:endParaRPr>
          </a:p>
          <a:p>
            <a:pPr indent="0" lvl="0" marL="0" rtl="0" algn="l">
              <a:spcBef>
                <a:spcPts val="400"/>
              </a:spcBef>
              <a:spcAft>
                <a:spcPts val="0"/>
              </a:spcAft>
              <a:buNone/>
            </a:pPr>
            <a:r>
              <a:rPr lang="en" sz="1100">
                <a:solidFill>
                  <a:schemeClr val="dk1"/>
                </a:solidFill>
              </a:rPr>
              <a:t>+ MemcachedStore implements Store</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 API now calls Cache</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 sz="1300">
                <a:solidFill>
                  <a:schemeClr val="dk1"/>
                </a:solidFill>
              </a:rPr>
              <a:t>2. Contract or invariant change</a:t>
            </a:r>
            <a:endParaRPr b="1" sz="1300">
              <a:solidFill>
                <a:schemeClr val="dk1"/>
              </a:solidFill>
            </a:endParaRPr>
          </a:p>
          <a:p>
            <a:pPr indent="0" lvl="0" marL="0" rtl="0" algn="l">
              <a:spcBef>
                <a:spcPts val="400"/>
              </a:spcBef>
              <a:spcAft>
                <a:spcPts val="0"/>
              </a:spcAft>
              <a:buNone/>
            </a:pPr>
            <a:r>
              <a:rPr lang="en" sz="1100">
                <a:solidFill>
                  <a:schemeClr val="dk1"/>
                </a:solidFill>
              </a:rPr>
              <a:t>~ cache-consistency invariant modified</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 replay-parity invariant removed</a:t>
            </a:r>
            <a:endParaRPr sz="1100">
              <a:solidFill>
                <a:schemeClr val="dk1"/>
              </a:solidFill>
            </a:endParaRPr>
          </a:p>
          <a:p>
            <a:pPr indent="0" lvl="0" marL="0" rtl="0" algn="l">
              <a:spcBef>
                <a:spcPts val="1400"/>
              </a:spcBef>
              <a:spcAft>
                <a:spcPts val="0"/>
              </a:spcAft>
              <a:buClr>
                <a:schemeClr val="dk1"/>
              </a:buClr>
              <a:buSzPct val="84615"/>
              <a:buFont typeface="Arial"/>
              <a:buNone/>
            </a:pPr>
            <a:r>
              <a:rPr b="1" lang="en" sz="1300">
                <a:solidFill>
                  <a:schemeClr val="dk1"/>
                </a:solidFill>
              </a:rPr>
              <a:t>3. Evidence status</a:t>
            </a:r>
            <a:endParaRPr b="1" sz="1300">
              <a:solidFill>
                <a:schemeClr val="dk1"/>
              </a:solidFill>
            </a:endParaRPr>
          </a:p>
          <a:p>
            <a:pPr indent="0" lvl="0" marL="0" rtl="0" algn="l">
              <a:spcBef>
                <a:spcPts val="400"/>
              </a:spcBef>
              <a:spcAft>
                <a:spcPts val="0"/>
              </a:spcAft>
              <a:buNone/>
            </a:pPr>
            <a:r>
              <a:rPr lang="en" sz="1100">
                <a:solidFill>
                  <a:schemeClr val="dk1"/>
                </a:solidFill>
              </a:rPr>
              <a:t>TestStoreContract passed</a:t>
            </a:r>
            <a:endParaRPr sz="1100">
              <a:solidFill>
                <a:schemeClr val="dk1"/>
              </a:solidFill>
            </a:endParaRPr>
          </a:p>
          <a:p>
            <a:pPr indent="0" lvl="0" marL="0" rtl="0" algn="l">
              <a:spcBef>
                <a:spcPts val="1200"/>
              </a:spcBef>
              <a:spcAft>
                <a:spcPts val="0"/>
              </a:spcAft>
              <a:buNone/>
            </a:pPr>
            <a:r>
              <a:rPr lang="en" sz="1100">
                <a:solidFill>
                  <a:schemeClr val="dk1"/>
                </a:solidFill>
              </a:rPr>
              <a:t>TestCacheConsistency missing</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MemcachedStore not covered by Store contract test</a:t>
            </a:r>
            <a:endParaRPr sz="11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CI would run all property tests. ARCHON would connect the results to the architectural contracts and report missing or stale evidence.</a:t>
            </a:r>
            <a:endParaRPr sz="1100">
              <a:solidFill>
                <a:schemeClr val="dk1"/>
              </a:solidFill>
            </a:endParaRPr>
          </a:p>
          <a:p>
            <a:pPr indent="0" lvl="0" marL="0" rtl="0" algn="l">
              <a:spcBef>
                <a:spcPts val="1200"/>
              </a:spcBef>
              <a:spcAft>
                <a:spcPts val="1200"/>
              </a:spcAft>
              <a:buNone/>
            </a:pPr>
            <a:r>
              <a:t/>
            </a:r>
            <a:endParaRPr/>
          </a:p>
        </p:txBody>
      </p:sp>
      <p:sp>
        <p:nvSpPr>
          <p:cNvPr id="467" name="Google Shape;467;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